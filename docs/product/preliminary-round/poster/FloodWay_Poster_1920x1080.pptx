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image" Target="../media/image-1-10.jp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0 header"/>
          <p:cNvSpPr/>
          <p:nvPr/>
        </p:nvSpPr>
        <p:spPr>
          <a:xfrm>
            <a:off x="0" y="0"/>
            <a:ext cx="18288000" cy="1219170"/>
          </a:xfrm>
          <a:prstGeom prst="rect">
            <a:avLst/>
          </a:prstGeom>
          <a:solidFill>
            <a:srgbClr val="062A33"/>
          </a:solidFill>
          <a:ln/>
        </p:spPr>
      </p:sp>
      <p:sp>
        <p:nvSpPr>
          <p:cNvPr id="3" name="box 1 header-overlay"/>
          <p:cNvSpPr/>
          <p:nvPr/>
        </p:nvSpPr>
        <p:spPr>
          <a:xfrm>
            <a:off x="0" y="0"/>
            <a:ext cx="18288000" cy="1219170"/>
          </a:xfrm>
          <a:prstGeom prst="rect">
            <a:avLst/>
          </a:prstGeom>
          <a:solidFill>
            <a:srgbClr val="062A33">
              <a:alpha val="55000"/>
            </a:srgbClr>
          </a:solidFill>
          <a:ln/>
        </p:spPr>
      </p:sp>
      <p:sp>
        <p:nvSpPr>
          <p:cNvPr id="4" name="box 2 mark"/>
          <p:cNvSpPr/>
          <p:nvPr/>
        </p:nvSpPr>
        <p:spPr>
          <a:xfrm>
            <a:off x="419070" y="171450"/>
            <a:ext cx="876270" cy="876270"/>
          </a:xfrm>
          <a:prstGeom prst="roundRect">
            <a:avLst>
              <a:gd name="adj" fmla="val 30439"/>
            </a:avLst>
          </a:prstGeom>
          <a:solidFill>
            <a:srgbClr val="FFFFFF"/>
          </a:solidFill>
          <a:ln/>
        </p:spPr>
      </p:sp>
      <p:pic>
        <p:nvPicPr>
          <p:cNvPr id="5" name="img 3 FloodWay logo" descr="C:\Users\Luqman Nurhakim\Desktop\Projects\Hackathon-2026\Huawei\docs\product\preliminary-round\poster\.pptx-build\r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80" y="410657"/>
            <a:ext cx="609630" cy="397855"/>
          </a:xfrm>
          <a:prstGeom prst="rect">
            <a:avLst/>
          </a:prstGeom>
        </p:spPr>
      </p:pic>
      <p:sp>
        <p:nvSpPr>
          <p:cNvPr id="6" name="text 4 h1"/>
          <p:cNvSpPr txBox="1"/>
          <p:nvPr/>
        </p:nvSpPr>
        <p:spPr>
          <a:xfrm>
            <a:off x="1581180" y="-40051"/>
            <a:ext cx="3210824" cy="90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spc="-81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Flood</a:t>
            </a:r>
            <a:pPr algn="l" indent="0" marL="0">
              <a:buNone/>
            </a:pPr>
            <a:r>
              <a:rPr lang="en-US" sz="5400" b="1" spc="-81" kern="0" dirty="0">
                <a:solidFill>
                  <a:srgbClr val="86D3E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Way</a:t>
            </a:r>
            <a:endParaRPr lang="en-US" sz="5400" dirty="0"/>
          </a:p>
        </p:txBody>
      </p:sp>
      <p:sp>
        <p:nvSpPr>
          <p:cNvPr id="7" name="text 5 tg"/>
          <p:cNvSpPr txBox="1"/>
          <p:nvPr/>
        </p:nvSpPr>
        <p:spPr>
          <a:xfrm>
            <a:off x="4979365" y="350490"/>
            <a:ext cx="6997263" cy="40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Predict. Verify. Guide. </a:t>
            </a:r>
            <a:pPr algn="l" indent="0" marL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E8C9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Before the road disappears.</a:t>
            </a:r>
            <a:endParaRPr lang="en-US" sz="2325" dirty="0"/>
          </a:p>
        </p:txBody>
      </p:sp>
      <p:sp>
        <p:nvSpPr>
          <p:cNvPr id="8" name="box 6 b"/>
          <p:cNvSpPr/>
          <p:nvPr/>
        </p:nvSpPr>
        <p:spPr>
          <a:xfrm>
            <a:off x="1581180" y="801929"/>
            <a:ext cx="3615355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 b"/>
          <p:cNvSpPr txBox="1"/>
          <p:nvPr/>
        </p:nvSpPr>
        <p:spPr>
          <a:xfrm>
            <a:off x="1724010" y="859079"/>
            <a:ext cx="337239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Huawei ICT Competition 2026–2027</a:t>
            </a:r>
            <a:endParaRPr lang="en-US" sz="1500" dirty="0"/>
          </a:p>
        </p:txBody>
      </p:sp>
      <p:sp>
        <p:nvSpPr>
          <p:cNvPr id="10" name="box 8 b"/>
          <p:cNvSpPr/>
          <p:nvPr/>
        </p:nvSpPr>
        <p:spPr>
          <a:xfrm>
            <a:off x="5291724" y="801929"/>
            <a:ext cx="1927921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9 b"/>
          <p:cNvSpPr txBox="1"/>
          <p:nvPr/>
        </p:nvSpPr>
        <p:spPr>
          <a:xfrm>
            <a:off x="5434645" y="859079"/>
            <a:ext cx="1668140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 · APAC</a:t>
            </a:r>
            <a:endParaRPr lang="en-US" sz="1500" dirty="0"/>
          </a:p>
        </p:txBody>
      </p:sp>
      <p:sp>
        <p:nvSpPr>
          <p:cNvPr id="12" name="box 10 b"/>
          <p:cNvSpPr/>
          <p:nvPr/>
        </p:nvSpPr>
        <p:spPr>
          <a:xfrm>
            <a:off x="7314926" y="801929"/>
            <a:ext cx="1918137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1 b"/>
          <p:cNvSpPr txBox="1"/>
          <p:nvPr/>
        </p:nvSpPr>
        <p:spPr>
          <a:xfrm>
            <a:off x="7457755" y="859079"/>
            <a:ext cx="1658173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round</a:t>
            </a:r>
            <a:endParaRPr lang="en-US" sz="1500" dirty="0"/>
          </a:p>
        </p:txBody>
      </p:sp>
      <p:sp>
        <p:nvSpPr>
          <p:cNvPr id="14" name="box 12 logos"/>
          <p:cNvSpPr/>
          <p:nvPr/>
        </p:nvSpPr>
        <p:spPr>
          <a:xfrm>
            <a:off x="13227985" y="152430"/>
            <a:ext cx="4640946" cy="914400"/>
          </a:xfrm>
          <a:prstGeom prst="roundRect">
            <a:avLst>
              <a:gd name="adj" fmla="val 20830"/>
            </a:avLst>
          </a:prstGeom>
          <a:solidFill>
            <a:srgbClr val="FFFFFF"/>
          </a:solidFill>
          <a:ln/>
        </p:spPr>
      </p:sp>
      <p:pic>
        <p:nvPicPr>
          <p:cNvPr id="15" name="img 13 Universiti Teknologi MARA" descr="C:/Users/Luqman Nurhakim/Desktop/Projects/Hackathon-2026/Huawei/docs/product/preliminary-round/poster/assets/uit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585" y="276240"/>
            <a:ext cx="1480505" cy="666780"/>
          </a:xfrm>
          <a:prstGeom prst="rect">
            <a:avLst/>
          </a:prstGeom>
        </p:spPr>
      </p:pic>
      <p:sp>
        <p:nvSpPr>
          <p:cNvPr id="16" name="box 14 i"/>
          <p:cNvSpPr/>
          <p:nvPr/>
        </p:nvSpPr>
        <p:spPr>
          <a:xfrm>
            <a:off x="15127651" y="342900"/>
            <a:ext cx="9510" cy="533370"/>
          </a:xfrm>
          <a:prstGeom prst="rect">
            <a:avLst/>
          </a:prstGeom>
          <a:solidFill>
            <a:srgbClr val="D8E5E9"/>
          </a:solidFill>
          <a:ln/>
        </p:spPr>
      </p:sp>
      <p:pic>
        <p:nvPicPr>
          <p:cNvPr id="17" name="img 15 Evolusi 7 Dekad UiTM" descr="C:/Users/Luqman Nurhakim/Desktop/Projects/Hackathon-2026/Huawei/docs/product/preliminary-round/poster/assets/uitm-7dek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7630" y="276240"/>
            <a:ext cx="1183325" cy="666780"/>
          </a:xfrm>
          <a:prstGeom prst="rect">
            <a:avLst/>
          </a:prstGeom>
        </p:spPr>
      </p:pic>
      <p:sp>
        <p:nvSpPr>
          <p:cNvPr id="18" name="box 16 i"/>
          <p:cNvSpPr/>
          <p:nvPr/>
        </p:nvSpPr>
        <p:spPr>
          <a:xfrm>
            <a:off x="16701516" y="342900"/>
            <a:ext cx="9510" cy="533370"/>
          </a:xfrm>
          <a:prstGeom prst="rect">
            <a:avLst/>
          </a:prstGeom>
          <a:solidFill>
            <a:srgbClr val="D8E5E9"/>
          </a:solidFill>
          <a:ln/>
        </p:spPr>
      </p:sp>
      <p:pic>
        <p:nvPicPr>
          <p:cNvPr id="19" name="img 17 Huawei" descr="C:/Users/Luqman Nurhakim/Desktop/Projects/Hackathon-2026/Huawei/docs/product/preliminary-round/poster/assets/huawe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1495" y="257221"/>
            <a:ext cx="738744" cy="704820"/>
          </a:xfrm>
          <a:prstGeom prst="rect">
            <a:avLst/>
          </a:prstGeom>
        </p:spPr>
      </p:pic>
      <p:sp>
        <p:nvSpPr>
          <p:cNvPr id="20" name="box 18 card"/>
          <p:cNvSpPr/>
          <p:nvPr/>
        </p:nvSpPr>
        <p:spPr>
          <a:xfrm>
            <a:off x="304770" y="1352580"/>
            <a:ext cx="5333970" cy="3997117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21" name="text 19 kicker"/>
          <p:cNvSpPr txBox="1"/>
          <p:nvPr/>
        </p:nvSpPr>
        <p:spPr>
          <a:xfrm>
            <a:off x="809610" y="1514521"/>
            <a:ext cx="466572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95" kern="0" dirty="0">
                <a:solidFill>
                  <a:srgbClr val="A82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THE PROBLEM</a:t>
            </a:r>
            <a:endParaRPr lang="en-US" sz="1500" dirty="0"/>
          </a:p>
        </p:txBody>
      </p:sp>
      <p:pic>
        <p:nvPicPr>
          <p:cNvPr id="22" name="icon 20 icon" descr="C:\Users\Luqman Nurhakim\Desktop\Projects\Hackathon-2026\Huawei\docs\product\preliminary-round\poster\.pptx-build\r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60" y="1533540"/>
            <a:ext cx="190470" cy="190470"/>
          </a:xfrm>
          <a:prstGeom prst="rect">
            <a:avLst/>
          </a:prstGeom>
        </p:spPr>
      </p:pic>
      <p:sp>
        <p:nvSpPr>
          <p:cNvPr id="23" name="text 21 h2"/>
          <p:cNvSpPr txBox="1"/>
          <p:nvPr/>
        </p:nvSpPr>
        <p:spPr>
          <a:xfrm>
            <a:off x="523860" y="1743121"/>
            <a:ext cx="4954311" cy="70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-34" kern="0" dirty="0">
                <a:solidFill>
                  <a:srgbClr val="0A2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Floods move in minutes. Warnings move in hours.</a:t>
            </a:r>
            <a:endParaRPr lang="en-US" sz="2250" dirty="0"/>
          </a:p>
        </p:txBody>
      </p:sp>
      <p:sp>
        <p:nvSpPr>
          <p:cNvPr id="24" name="box 22 big"/>
          <p:cNvSpPr/>
          <p:nvPr/>
        </p:nvSpPr>
        <p:spPr>
          <a:xfrm>
            <a:off x="523860" y="2476470"/>
            <a:ext cx="2390790" cy="1526865"/>
          </a:xfrm>
          <a:prstGeom prst="roundRect">
            <a:avLst>
              <a:gd name="adj" fmla="val 11229"/>
            </a:avLst>
          </a:prstGeom>
          <a:solidFill>
            <a:srgbClr val="FDF0F0"/>
          </a:solidFill>
          <a:ln w="9525">
            <a:solidFill>
              <a:srgbClr val="F3CFD1"/>
            </a:solidFill>
            <a:prstDash val="solid"/>
          </a:ln>
        </p:spPr>
      </p:sp>
      <p:sp>
        <p:nvSpPr>
          <p:cNvPr id="25" name="text 23 b"/>
          <p:cNvSpPr txBox="1"/>
          <p:nvPr/>
        </p:nvSpPr>
        <p:spPr>
          <a:xfrm>
            <a:off x="685800" y="2533620"/>
            <a:ext cx="209708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50" b="1" spc="-122" kern="0" dirty="0">
                <a:solidFill>
                  <a:srgbClr val="A823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&lt;45</a:t>
            </a:r>
            <a:pPr algn="l" indent="0" marL="0">
              <a:buNone/>
            </a:pPr>
            <a:r>
              <a:rPr lang="en-US" sz="2100" b="1" spc="-122" kern="0" dirty="0">
                <a:solidFill>
                  <a:srgbClr val="A823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min</a:t>
            </a:r>
            <a:endParaRPr lang="en-US" sz="4050" dirty="0"/>
          </a:p>
        </p:txBody>
      </p:sp>
      <p:sp>
        <p:nvSpPr>
          <p:cNvPr id="26" name="text 24 span"/>
          <p:cNvSpPr txBox="1"/>
          <p:nvPr/>
        </p:nvSpPr>
        <p:spPr>
          <a:xfrm>
            <a:off x="685800" y="3146085"/>
            <a:ext cx="209708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5B2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 Klang Valley flash flood to turn dangerous</a:t>
            </a:r>
            <a:endParaRPr lang="en-US" sz="1500" dirty="0"/>
          </a:p>
        </p:txBody>
      </p:sp>
      <p:sp>
        <p:nvSpPr>
          <p:cNvPr id="27" name="box 25 big"/>
          <p:cNvSpPr/>
          <p:nvPr/>
        </p:nvSpPr>
        <p:spPr>
          <a:xfrm>
            <a:off x="3028950" y="2476470"/>
            <a:ext cx="2390790" cy="1526865"/>
          </a:xfrm>
          <a:prstGeom prst="roundRect">
            <a:avLst>
              <a:gd name="adj" fmla="val 11229"/>
            </a:avLst>
          </a:prstGeom>
          <a:solidFill>
            <a:srgbClr val="FDF0F0"/>
          </a:solidFill>
          <a:ln w="9525">
            <a:solidFill>
              <a:srgbClr val="F3CFD1"/>
            </a:solidFill>
            <a:prstDash val="solid"/>
          </a:ln>
        </p:spPr>
      </p:sp>
      <p:sp>
        <p:nvSpPr>
          <p:cNvPr id="28" name="text 26 b"/>
          <p:cNvSpPr txBox="1"/>
          <p:nvPr/>
        </p:nvSpPr>
        <p:spPr>
          <a:xfrm>
            <a:off x="3190890" y="2533620"/>
            <a:ext cx="209708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50" b="1" spc="-122" kern="0" dirty="0">
                <a:solidFill>
                  <a:srgbClr val="A823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78</a:t>
            </a:r>
            <a:pPr algn="l" indent="0" marL="0">
              <a:buNone/>
            </a:pPr>
            <a:r>
              <a:rPr lang="en-US" sz="2100" b="1" spc="-122" kern="0" dirty="0">
                <a:solidFill>
                  <a:srgbClr val="A823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%</a:t>
            </a:r>
            <a:endParaRPr lang="en-US" sz="4050" dirty="0"/>
          </a:p>
        </p:txBody>
      </p:sp>
      <p:sp>
        <p:nvSpPr>
          <p:cNvPr id="29" name="text 27 span"/>
          <p:cNvSpPr txBox="1"/>
          <p:nvPr/>
        </p:nvSpPr>
        <p:spPr>
          <a:xfrm>
            <a:off x="3190890" y="3146085"/>
            <a:ext cx="209708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5B2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affected residents never got a local warning</a:t>
            </a:r>
            <a:endParaRPr lang="en-US" sz="1500" dirty="0"/>
          </a:p>
        </p:txBody>
      </p:sp>
      <p:sp>
        <p:nvSpPr>
          <p:cNvPr id="30" name="box 28 catalyst"/>
          <p:cNvSpPr/>
          <p:nvPr/>
        </p:nvSpPr>
        <p:spPr>
          <a:xfrm>
            <a:off x="523860" y="4117635"/>
            <a:ext cx="4895880" cy="1070031"/>
          </a:xfrm>
          <a:prstGeom prst="roundRect">
            <a:avLst>
              <a:gd name="adj" fmla="val 16023"/>
            </a:avLst>
          </a:prstGeom>
          <a:solidFill>
            <a:srgbClr val="062A33"/>
          </a:solidFill>
          <a:ln/>
        </p:spPr>
      </p:sp>
      <p:sp>
        <p:nvSpPr>
          <p:cNvPr id="31" name="text 29 hd"/>
          <p:cNvSpPr txBox="1"/>
          <p:nvPr/>
        </p:nvSpPr>
        <p:spPr>
          <a:xfrm>
            <a:off x="695310" y="4250954"/>
            <a:ext cx="460802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20" kern="0" dirty="0">
                <a:solidFill>
                  <a:srgbClr val="E8C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KUALA LUMPUR, DECEMBER 2021</a:t>
            </a:r>
            <a:endParaRPr lang="en-US" sz="1500" dirty="0"/>
          </a:p>
        </p:txBody>
      </p:sp>
      <p:sp>
        <p:nvSpPr>
          <p:cNvPr id="32" name="text 30 div"/>
          <p:cNvSpPr txBox="1"/>
          <p:nvPr/>
        </p:nvSpPr>
        <p:spPr>
          <a:xfrm>
            <a:off x="695310" y="4527194"/>
            <a:ext cx="1226485" cy="56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380 mm</a:t>
            </a:r>
            <a:endParaRPr lang="en-US" sz="202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9D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 in 24 h</a:t>
            </a:r>
            <a:endParaRPr lang="en-US" sz="2025" dirty="0"/>
          </a:p>
        </p:txBody>
      </p:sp>
      <p:sp>
        <p:nvSpPr>
          <p:cNvPr id="33" name="text 31 div"/>
          <p:cNvSpPr txBox="1"/>
          <p:nvPr/>
        </p:nvSpPr>
        <p:spPr>
          <a:xfrm>
            <a:off x="1957365" y="4527194"/>
            <a:ext cx="894558" cy="56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50+</a:t>
            </a:r>
            <a:endParaRPr lang="en-US" sz="202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9D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lives lost</a:t>
            </a:r>
            <a:endParaRPr lang="en-US" sz="2025" dirty="0"/>
          </a:p>
        </p:txBody>
      </p:sp>
      <p:sp>
        <p:nvSpPr>
          <p:cNvPr id="34" name="text 32 div"/>
          <p:cNvSpPr txBox="1"/>
          <p:nvPr/>
        </p:nvSpPr>
        <p:spPr>
          <a:xfrm>
            <a:off x="2890876" y="4527194"/>
            <a:ext cx="1226485" cy="56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125,000</a:t>
            </a:r>
            <a:endParaRPr lang="en-US" sz="202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9D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displaced</a:t>
            </a:r>
            <a:endParaRPr lang="en-US" sz="2025" dirty="0"/>
          </a:p>
        </p:txBody>
      </p:sp>
      <p:sp>
        <p:nvSpPr>
          <p:cNvPr id="35" name="text 33 div"/>
          <p:cNvSpPr txBox="1"/>
          <p:nvPr/>
        </p:nvSpPr>
        <p:spPr>
          <a:xfrm>
            <a:off x="4152930" y="4527194"/>
            <a:ext cx="1115842" cy="56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RM 6.1B</a:t>
            </a:r>
            <a:endParaRPr lang="en-US" sz="202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9D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losses</a:t>
            </a:r>
            <a:endParaRPr lang="en-US" sz="2025" dirty="0"/>
          </a:p>
        </p:txBody>
      </p:sp>
      <p:sp>
        <p:nvSpPr>
          <p:cNvPr id="36" name="box 34 card"/>
          <p:cNvSpPr/>
          <p:nvPr/>
        </p:nvSpPr>
        <p:spPr>
          <a:xfrm>
            <a:off x="304770" y="5483017"/>
            <a:ext cx="5333970" cy="3813414"/>
          </a:xfrm>
          <a:prstGeom prst="roundRect">
            <a:avLst>
              <a:gd name="adj" fmla="val 5995"/>
            </a:avLst>
          </a:prstGeom>
          <a:solidFill>
            <a:srgbClr val="FFFFFF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37" name="text 35 kicker"/>
          <p:cNvSpPr txBox="1"/>
          <p:nvPr/>
        </p:nvSpPr>
        <p:spPr>
          <a:xfrm>
            <a:off x="809610" y="5644866"/>
            <a:ext cx="466572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95" kern="0" dirty="0">
                <a:solidFill>
                  <a:srgbClr val="E1A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IMPACT: KAMPUNG BARU</a:t>
            </a:r>
            <a:endParaRPr lang="en-US" sz="1500" dirty="0"/>
          </a:p>
        </p:txBody>
      </p:sp>
      <p:pic>
        <p:nvPicPr>
          <p:cNvPr id="38" name="icon 36 icon" descr="C:\Users\Luqman Nurhakim\Desktop\Projects\Hackathon-2026\Huawei\docs\product\preliminary-round\poster\.pptx-build\r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60" y="5663976"/>
            <a:ext cx="190470" cy="190470"/>
          </a:xfrm>
          <a:prstGeom prst="rect">
            <a:avLst/>
          </a:prstGeom>
        </p:spPr>
      </p:pic>
      <p:sp>
        <p:nvSpPr>
          <p:cNvPr id="39" name="text 37 h2"/>
          <p:cNvSpPr txBox="1"/>
          <p:nvPr/>
        </p:nvSpPr>
        <p:spPr>
          <a:xfrm>
            <a:off x="523860" y="5873466"/>
            <a:ext cx="495431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34" kern="0" dirty="0">
                <a:solidFill>
                  <a:srgbClr val="0A2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1:00 AM alert</a:t>
            </a:r>
            <a:endParaRPr lang="en-US" sz="2250" dirty="0"/>
          </a:p>
        </p:txBody>
      </p:sp>
      <p:sp>
        <p:nvSpPr>
          <p:cNvPr id="40" name="box 38 tm"/>
          <p:cNvSpPr/>
          <p:nvPr/>
        </p:nvSpPr>
        <p:spPr>
          <a:xfrm>
            <a:off x="523860" y="6376111"/>
            <a:ext cx="914400" cy="264810"/>
          </a:xfrm>
          <a:prstGeom prst="roundRect">
            <a:avLst>
              <a:gd name="adj" fmla="val 35981"/>
            </a:avLst>
          </a:prstGeom>
          <a:solidFill>
            <a:srgbClr val="FFF6DD"/>
          </a:solidFill>
          <a:ln/>
        </p:spPr>
      </p:sp>
      <p:sp>
        <p:nvSpPr>
          <p:cNvPr id="41" name="text 39 tm"/>
          <p:cNvSpPr txBox="1"/>
          <p:nvPr/>
        </p:nvSpPr>
        <p:spPr>
          <a:xfrm>
            <a:off x="542971" y="6395131"/>
            <a:ext cx="894558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7A5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1:00 AM</a:t>
            </a:r>
            <a:endParaRPr lang="en-US" sz="1350" dirty="0"/>
          </a:p>
        </p:txBody>
      </p:sp>
      <p:sp>
        <p:nvSpPr>
          <p:cNvPr id="42" name="text 40 p"/>
          <p:cNvSpPr txBox="1"/>
          <p:nvPr/>
        </p:nvSpPr>
        <p:spPr>
          <a:xfrm>
            <a:off x="1533540" y="6287872"/>
            <a:ext cx="3934572" cy="477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8"/>
              </a:lnSpc>
              <a:buNone/>
            </a:pPr>
            <a:r>
              <a:rPr lang="en-US" sz="1425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Yellow alert</a:t>
            </a:r>
            <a:pPr algn="l" indent="0" marL="0">
              <a:lnSpc>
                <a:spcPts val="1738"/>
              </a:lnSpc>
              <a:buNone/>
            </a:pPr>
            <a:r>
              <a:rPr lang="en-US" sz="1425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the phone, </a:t>
            </a:r>
            <a:pPr algn="l" indent="0" marL="0">
              <a:lnSpc>
                <a:spcPts val="1738"/>
              </a:lnSpc>
              <a:buNone/>
            </a:pPr>
            <a:r>
              <a:rPr lang="en-US" sz="1425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minutes</a:t>
            </a:r>
            <a:pPr algn="l" indent="0" marL="0">
              <a:lnSpc>
                <a:spcPts val="1738"/>
              </a:lnSpc>
              <a:buNone/>
            </a:pPr>
            <a:r>
              <a:rPr lang="en-US" sz="1425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the water turns dangerous.</a:t>
            </a:r>
            <a:endParaRPr lang="en-US" sz="1425" dirty="0"/>
          </a:p>
        </p:txBody>
      </p:sp>
      <p:sp>
        <p:nvSpPr>
          <p:cNvPr id="43" name="box 41 tm"/>
          <p:cNvSpPr/>
          <p:nvPr/>
        </p:nvSpPr>
        <p:spPr>
          <a:xfrm>
            <a:off x="523860" y="6786402"/>
            <a:ext cx="914400" cy="453360"/>
          </a:xfrm>
          <a:prstGeom prst="roundRect">
            <a:avLst>
              <a:gd name="adj" fmla="val 21017"/>
            </a:avLst>
          </a:prstGeom>
          <a:solidFill>
            <a:srgbClr val="FFF6DD"/>
          </a:solidFill>
          <a:ln/>
        </p:spPr>
      </p:sp>
      <p:sp>
        <p:nvSpPr>
          <p:cNvPr id="44" name="text 42 tm"/>
          <p:cNvSpPr txBox="1"/>
          <p:nvPr/>
        </p:nvSpPr>
        <p:spPr>
          <a:xfrm>
            <a:off x="542971" y="6805422"/>
            <a:ext cx="8945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7A5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time</a:t>
            </a:r>
            <a:endParaRPr lang="en-US" sz="1350" dirty="0"/>
          </a:p>
        </p:txBody>
      </p:sp>
      <p:sp>
        <p:nvSpPr>
          <p:cNvPr id="45" name="text 43 p"/>
          <p:cNvSpPr txBox="1"/>
          <p:nvPr/>
        </p:nvSpPr>
        <p:spPr>
          <a:xfrm>
            <a:off x="1533540" y="6792346"/>
            <a:ext cx="3934572" cy="477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8"/>
              </a:lnSpc>
              <a:buNone/>
            </a:pPr>
            <a:r>
              <a:rPr lang="en-US" sz="1425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Dry route</a:t>
            </a:r>
            <a:pPr algn="l" indent="0" marL="0">
              <a:lnSpc>
                <a:spcPts val="1738"/>
              </a:lnSpc>
              <a:buNone/>
            </a:pPr>
            <a:r>
              <a:rPr lang="en-US" sz="1425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an open shelter, a </a:t>
            </a:r>
            <a:pPr algn="l" indent="0" marL="0">
              <a:lnSpc>
                <a:spcPts val="1738"/>
              </a:lnSpc>
              <a:buNone/>
            </a:pPr>
            <a:r>
              <a:rPr lang="en-US" sz="1425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+4.2 min</a:t>
            </a:r>
            <a:pPr algn="l" indent="0" marL="0">
              <a:lnSpc>
                <a:spcPts val="1738"/>
              </a:lnSpc>
              <a:buNone/>
            </a:pPr>
            <a:r>
              <a:rPr lang="en-US" sz="1425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detour around the flood.</a:t>
            </a:r>
            <a:endParaRPr lang="en-US" sz="1425" dirty="0"/>
          </a:p>
        </p:txBody>
      </p:sp>
      <p:sp>
        <p:nvSpPr>
          <p:cNvPr id="46" name="box 44 tm"/>
          <p:cNvSpPr/>
          <p:nvPr/>
        </p:nvSpPr>
        <p:spPr>
          <a:xfrm>
            <a:off x="523860" y="7385152"/>
            <a:ext cx="914400" cy="264810"/>
          </a:xfrm>
          <a:prstGeom prst="roundRect">
            <a:avLst>
              <a:gd name="adj" fmla="val 35981"/>
            </a:avLst>
          </a:prstGeom>
          <a:solidFill>
            <a:srgbClr val="E4F6EC"/>
          </a:solidFill>
          <a:ln/>
        </p:spPr>
      </p:sp>
      <p:sp>
        <p:nvSpPr>
          <p:cNvPr id="47" name="text 45 tm"/>
          <p:cNvSpPr txBox="1"/>
          <p:nvPr/>
        </p:nvSpPr>
        <p:spPr>
          <a:xfrm>
            <a:off x="542971" y="7404171"/>
            <a:ext cx="894558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B6F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2:30 AM</a:t>
            </a:r>
            <a:endParaRPr lang="en-US" sz="1350" dirty="0"/>
          </a:p>
        </p:txBody>
      </p:sp>
      <p:sp>
        <p:nvSpPr>
          <p:cNvPr id="48" name="text 46 p"/>
          <p:cNvSpPr txBox="1"/>
          <p:nvPr/>
        </p:nvSpPr>
        <p:spPr>
          <a:xfrm>
            <a:off x="1533540" y="7296912"/>
            <a:ext cx="3934572" cy="477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8"/>
              </a:lnSpc>
              <a:buNone/>
            </a:pPr>
            <a:r>
              <a:rPr lang="en-US" sz="1425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reaches the house. </a:t>
            </a:r>
            <a:pPr algn="l" indent="0" marL="0">
              <a:lnSpc>
                <a:spcPts val="1738"/>
              </a:lnSpc>
              <a:buNone/>
            </a:pPr>
            <a:r>
              <a:rPr lang="en-US" sz="1425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is already out.</a:t>
            </a:r>
            <a:endParaRPr lang="en-US" sz="1425" dirty="0"/>
          </a:p>
        </p:txBody>
      </p:sp>
      <p:sp>
        <p:nvSpPr>
          <p:cNvPr id="49" name="box 47 vs"/>
          <p:cNvSpPr/>
          <p:nvPr/>
        </p:nvSpPr>
        <p:spPr>
          <a:xfrm>
            <a:off x="523860" y="7814554"/>
            <a:ext cx="2409810" cy="779709"/>
          </a:xfrm>
          <a:prstGeom prst="roundRect">
            <a:avLst>
              <a:gd name="adj" fmla="val 17099"/>
            </a:avLst>
          </a:prstGeom>
          <a:solidFill>
            <a:srgbClr val="FDF0F0"/>
          </a:solidFill>
          <a:ln w="9525">
            <a:solidFill>
              <a:srgbClr val="F3CFD1"/>
            </a:solidFill>
            <a:prstDash val="solid"/>
          </a:ln>
        </p:spPr>
      </p:sp>
      <p:sp>
        <p:nvSpPr>
          <p:cNvPr id="50" name="text 48 vs"/>
          <p:cNvSpPr txBox="1"/>
          <p:nvPr/>
        </p:nvSpPr>
        <p:spPr>
          <a:xfrm>
            <a:off x="647670" y="7890723"/>
            <a:ext cx="2193280" cy="65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en-US" sz="1350" b="1" spc="68" kern="0" dirty="0">
                <a:solidFill>
                  <a:srgbClr val="A82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FLOODWAY</a:t>
            </a:r>
            <a:endParaRPr lang="en-US" sz="1350" dirty="0"/>
          </a:p>
          <a:p>
            <a:pPr algn="l" indent="0" marL="0">
              <a:lnSpc>
                <a:spcPts val="1647"/>
              </a:lnSpc>
              <a:buNone/>
            </a:pPr>
            <a:r>
              <a:rPr lang="en-US" sz="1350" dirty="0">
                <a:solidFill>
                  <a:srgbClr val="5B2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warning. Roads out are already under.</a:t>
            </a:r>
            <a:endParaRPr lang="en-US" sz="1350" dirty="0"/>
          </a:p>
        </p:txBody>
      </p:sp>
      <p:sp>
        <p:nvSpPr>
          <p:cNvPr id="51" name="box 49 vs"/>
          <p:cNvSpPr/>
          <p:nvPr/>
        </p:nvSpPr>
        <p:spPr>
          <a:xfrm>
            <a:off x="3009930" y="7814554"/>
            <a:ext cx="2409810" cy="779709"/>
          </a:xfrm>
          <a:prstGeom prst="roundRect">
            <a:avLst>
              <a:gd name="adj" fmla="val 17099"/>
            </a:avLst>
          </a:prstGeom>
          <a:solidFill>
            <a:srgbClr val="E9F8F1"/>
          </a:solidFill>
          <a:ln w="9525">
            <a:solidFill>
              <a:srgbClr val="BFE8D3"/>
            </a:solidFill>
            <a:prstDash val="solid"/>
          </a:ln>
        </p:spPr>
      </p:sp>
      <p:sp>
        <p:nvSpPr>
          <p:cNvPr id="52" name="text 50 vs"/>
          <p:cNvSpPr txBox="1"/>
          <p:nvPr/>
        </p:nvSpPr>
        <p:spPr>
          <a:xfrm>
            <a:off x="3133740" y="7890723"/>
            <a:ext cx="2193280" cy="65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en-US" sz="1350" b="1" spc="68" kern="0" dirty="0">
                <a:solidFill>
                  <a:srgbClr val="0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FLOODWAY</a:t>
            </a:r>
            <a:endParaRPr lang="en-US" sz="1350" dirty="0"/>
          </a:p>
          <a:p>
            <a:pPr algn="l" indent="0" marL="0">
              <a:lnSpc>
                <a:spcPts val="1647"/>
              </a:lnSpc>
              <a:buNone/>
            </a:pPr>
            <a:r>
              <a:rPr lang="en-US" sz="1350" dirty="0">
                <a:solidFill>
                  <a:srgbClr val="0B4A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alert, clear route, all safe.</a:t>
            </a:r>
            <a:endParaRPr lang="en-US" sz="1350" dirty="0"/>
          </a:p>
        </p:txBody>
      </p:sp>
      <p:sp>
        <p:nvSpPr>
          <p:cNvPr id="53" name="box 51 afford"/>
          <p:cNvSpPr/>
          <p:nvPr/>
        </p:nvSpPr>
        <p:spPr>
          <a:xfrm>
            <a:off x="523860" y="8651413"/>
            <a:ext cx="4895880" cy="506578"/>
          </a:xfrm>
          <a:prstGeom prst="roundRect">
            <a:avLst>
              <a:gd name="adj" fmla="val 22563"/>
            </a:avLst>
          </a:prstGeom>
          <a:solidFill>
            <a:srgbClr val="E9F8F1"/>
          </a:solidFill>
          <a:ln/>
        </p:spPr>
      </p:sp>
      <p:sp>
        <p:nvSpPr>
          <p:cNvPr id="54" name="text 52 afford"/>
          <p:cNvSpPr txBox="1"/>
          <p:nvPr/>
        </p:nvSpPr>
        <p:spPr>
          <a:xfrm>
            <a:off x="619140" y="8698962"/>
            <a:ext cx="4761921" cy="44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Affordable for society:</a:t>
            </a:r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B4A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new sensors, free for citizens, runs on cameras the city already has.</a:t>
            </a:r>
            <a:endParaRPr lang="en-US" sz="1350" dirty="0"/>
          </a:p>
        </p:txBody>
      </p:sp>
      <p:sp>
        <p:nvSpPr>
          <p:cNvPr id="55" name="box 53 card"/>
          <p:cNvSpPr/>
          <p:nvPr/>
        </p:nvSpPr>
        <p:spPr>
          <a:xfrm>
            <a:off x="5810280" y="1352580"/>
            <a:ext cx="6667530" cy="79438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56" name="text 54 kicker"/>
          <p:cNvSpPr txBox="1"/>
          <p:nvPr/>
        </p:nvSpPr>
        <p:spPr>
          <a:xfrm>
            <a:off x="6315121" y="1514521"/>
            <a:ext cx="601254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95" kern="0" dirty="0">
                <a:solidFill>
                  <a:srgbClr val="0E7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OUR SOLUTION</a:t>
            </a:r>
            <a:endParaRPr lang="en-US" sz="1500" dirty="0"/>
          </a:p>
        </p:txBody>
      </p:sp>
      <p:pic>
        <p:nvPicPr>
          <p:cNvPr id="57" name="icon 55 icon" descr="C:\Users\Luqman Nurhakim\Desktop\Projects\Hackathon-2026\Huawei\docs\product\preliminary-round\poster\.pptx-build\r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9371" y="1533540"/>
            <a:ext cx="190470" cy="190470"/>
          </a:xfrm>
          <a:prstGeom prst="rect">
            <a:avLst/>
          </a:prstGeom>
        </p:spPr>
      </p:pic>
      <p:sp>
        <p:nvSpPr>
          <p:cNvPr id="58" name="text 56 h2"/>
          <p:cNvSpPr txBox="1"/>
          <p:nvPr/>
        </p:nvSpPr>
        <p:spPr>
          <a:xfrm>
            <a:off x="6029371" y="1743121"/>
            <a:ext cx="630113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34" kern="0" dirty="0">
                <a:solidFill>
                  <a:srgbClr val="0A2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glance. One tap.</a:t>
            </a:r>
            <a:endParaRPr lang="en-US" sz="2250" dirty="0"/>
          </a:p>
        </p:txBody>
      </p:sp>
      <p:sp>
        <p:nvSpPr>
          <p:cNvPr id="59" name="box 57 phone"/>
          <p:cNvSpPr/>
          <p:nvPr/>
        </p:nvSpPr>
        <p:spPr>
          <a:xfrm rot="-120000">
            <a:off x="6029371" y="2271735"/>
            <a:ext cx="1257300" cy="2686050"/>
          </a:xfrm>
          <a:prstGeom prst="roundRect">
            <a:avLst>
              <a:gd name="adj" fmla="val 30305"/>
            </a:avLst>
          </a:prstGeom>
          <a:solidFill>
            <a:srgbClr val="0B1B22"/>
          </a:solidFill>
          <a:ln/>
        </p:spPr>
      </p:sp>
      <p:sp>
        <p:nvSpPr>
          <p:cNvPr id="60" name="box 58 scr"/>
          <p:cNvSpPr/>
          <p:nvPr/>
        </p:nvSpPr>
        <p:spPr>
          <a:xfrm rot="-120000">
            <a:off x="6105540" y="2347905"/>
            <a:ext cx="1104870" cy="2533620"/>
          </a:xfrm>
          <a:prstGeom prst="roundRect">
            <a:avLst>
              <a:gd name="adj" fmla="val 28453"/>
            </a:avLst>
          </a:prstGeom>
          <a:solidFill>
            <a:srgbClr val="FFFFFF"/>
          </a:solidFill>
          <a:ln/>
        </p:spPr>
      </p:sp>
      <p:pic>
        <p:nvPicPr>
          <p:cNvPr id="61" name="img 59 Home" descr="C:/Users/Luqman Nurhakim/Desktop/Projects/Hackathon-2026/Huawei/docs/product/preliminary-round/poster/assets/home-phone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 rot="-120000">
            <a:off x="6105540" y="2347905"/>
            <a:ext cx="1104870" cy="2533620"/>
          </a:xfrm>
          <a:prstGeom prst="rect">
            <a:avLst/>
          </a:prstGeom>
        </p:spPr>
      </p:pic>
      <p:sp>
        <p:nvSpPr>
          <p:cNvPr id="62" name="box 60 phone"/>
          <p:cNvSpPr/>
          <p:nvPr/>
        </p:nvSpPr>
        <p:spPr>
          <a:xfrm rot="120000">
            <a:off x="7972471" y="2271735"/>
            <a:ext cx="1257300" cy="2686050"/>
          </a:xfrm>
          <a:prstGeom prst="roundRect">
            <a:avLst>
              <a:gd name="adj" fmla="val 30305"/>
            </a:avLst>
          </a:prstGeom>
          <a:solidFill>
            <a:srgbClr val="0B1B22"/>
          </a:solidFill>
          <a:ln/>
        </p:spPr>
      </p:sp>
      <p:sp>
        <p:nvSpPr>
          <p:cNvPr id="63" name="box 61 scr"/>
          <p:cNvSpPr/>
          <p:nvPr/>
        </p:nvSpPr>
        <p:spPr>
          <a:xfrm rot="120000">
            <a:off x="8048640" y="2347905"/>
            <a:ext cx="1104870" cy="2533620"/>
          </a:xfrm>
          <a:prstGeom prst="roundRect">
            <a:avLst>
              <a:gd name="adj" fmla="val 28453"/>
            </a:avLst>
          </a:prstGeom>
          <a:solidFill>
            <a:srgbClr val="FFFFFF"/>
          </a:solidFill>
          <a:ln/>
        </p:spPr>
      </p:sp>
      <p:pic>
        <p:nvPicPr>
          <p:cNvPr id="64" name="img 62 Map" descr="C:/Users/Luqman Nurhakim/Desktop/Projects/Hackathon-2026/Huawei/docs/product/preliminary-round/poster/assets/map-phone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 rot="120000">
            <a:off x="8048640" y="2347905"/>
            <a:ext cx="1104870" cy="2533620"/>
          </a:xfrm>
          <a:prstGeom prst="rect">
            <a:avLst/>
          </a:prstGeom>
        </p:spPr>
      </p:pic>
      <p:sp>
        <p:nvSpPr>
          <p:cNvPr id="65" name="box 63 phone"/>
          <p:cNvSpPr/>
          <p:nvPr/>
        </p:nvSpPr>
        <p:spPr>
          <a:xfrm>
            <a:off x="6896130" y="2119305"/>
            <a:ext cx="1466880" cy="3143250"/>
          </a:xfrm>
          <a:prstGeom prst="roundRect">
            <a:avLst>
              <a:gd name="adj" fmla="val 25976"/>
            </a:avLst>
          </a:prstGeom>
          <a:solidFill>
            <a:srgbClr val="0B1B22"/>
          </a:solidFill>
          <a:ln/>
        </p:spPr>
      </p:sp>
      <p:sp>
        <p:nvSpPr>
          <p:cNvPr id="66" name="box 64 scr"/>
          <p:cNvSpPr/>
          <p:nvPr/>
        </p:nvSpPr>
        <p:spPr>
          <a:xfrm>
            <a:off x="6972300" y="2195474"/>
            <a:ext cx="1314450" cy="2990820"/>
          </a:xfrm>
          <a:prstGeom prst="roundRect">
            <a:avLst>
              <a:gd name="adj" fmla="val 23917"/>
            </a:avLst>
          </a:prstGeom>
          <a:solidFill>
            <a:srgbClr val="FFFFFF"/>
          </a:solidFill>
          <a:ln/>
        </p:spPr>
      </p:sp>
      <p:pic>
        <p:nvPicPr>
          <p:cNvPr id="67" name="img 65 Live Vision" descr="C:/Users/Luqman Nurhakim/Desktop/Projects/Hackathon-2026/Huawei/docs/product/preliminary-round/poster/assets/live-phone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972300" y="2195474"/>
            <a:ext cx="1314450" cy="2990820"/>
          </a:xfrm>
          <a:prstGeom prst="rect">
            <a:avLst/>
          </a:prstGeom>
        </p:spPr>
      </p:pic>
      <p:sp>
        <p:nvSpPr>
          <p:cNvPr id="68" name="box 66 hero"/>
          <p:cNvSpPr/>
          <p:nvPr/>
        </p:nvSpPr>
        <p:spPr>
          <a:xfrm>
            <a:off x="9401221" y="2271735"/>
            <a:ext cx="2857500" cy="2686050"/>
          </a:xfrm>
          <a:prstGeom prst="roundRect">
            <a:avLst>
              <a:gd name="adj" fmla="val 7803"/>
            </a:avLst>
          </a:prstGeom>
          <a:solidFill>
            <a:srgbClr val="062A33"/>
          </a:solidFill>
          <a:ln/>
        </p:spPr>
      </p:sp>
      <p:sp>
        <p:nvSpPr>
          <p:cNvPr id="69" name="text 67 k"/>
          <p:cNvSpPr txBox="1"/>
          <p:nvPr/>
        </p:nvSpPr>
        <p:spPr>
          <a:xfrm>
            <a:off x="9572671" y="2841407"/>
            <a:ext cx="2549256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108" kern="0" dirty="0">
                <a:solidFill>
                  <a:srgbClr val="E8C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· REPLACES THE 3D TWIN</a:t>
            </a:r>
            <a:endParaRPr lang="en-US" sz="1350" dirty="0"/>
          </a:p>
        </p:txBody>
      </p:sp>
      <p:sp>
        <p:nvSpPr>
          <p:cNvPr id="70" name="text 68 h3"/>
          <p:cNvSpPr txBox="1"/>
          <p:nvPr/>
        </p:nvSpPr>
        <p:spPr>
          <a:xfrm>
            <a:off x="9572671" y="3241457"/>
            <a:ext cx="2549256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36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Vision</a:t>
            </a:r>
            <a:endParaRPr lang="en-US" sz="2400" dirty="0"/>
          </a:p>
        </p:txBody>
      </p:sp>
      <p:sp>
        <p:nvSpPr>
          <p:cNvPr id="71" name="text 69 b"/>
          <p:cNvSpPr txBox="1"/>
          <p:nvPr/>
        </p:nvSpPr>
        <p:spPr>
          <a:xfrm>
            <a:off x="9572671" y="3656686"/>
            <a:ext cx="2501433" cy="75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reads the water level from nearby river cameras every few seconds.</a:t>
            </a:r>
            <a:endParaRPr lang="en-US" sz="1500" dirty="0"/>
          </a:p>
        </p:txBody>
      </p:sp>
      <p:sp>
        <p:nvSpPr>
          <p:cNvPr id="72" name="box 70 pillar"/>
          <p:cNvSpPr/>
          <p:nvPr/>
        </p:nvSpPr>
        <p:spPr>
          <a:xfrm>
            <a:off x="6029371" y="5167274"/>
            <a:ext cx="2000250" cy="1714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73" name="box 71 ic"/>
          <p:cNvSpPr/>
          <p:nvPr/>
        </p:nvSpPr>
        <p:spPr>
          <a:xfrm>
            <a:off x="6191220" y="5310195"/>
            <a:ext cx="419070" cy="419070"/>
          </a:xfrm>
          <a:prstGeom prst="roundRect">
            <a:avLst>
              <a:gd name="adj" fmla="val 31813"/>
            </a:avLst>
          </a:prstGeom>
          <a:solidFill>
            <a:srgbClr val="1E709E"/>
          </a:solidFill>
          <a:ln/>
        </p:spPr>
      </p:sp>
      <p:pic>
        <p:nvPicPr>
          <p:cNvPr id="74" name="icon 72 icon" descr="C:\Users\Luqman Nurhakim\Desktop\Projects\Hackathon-2026\Huawei\docs\product\preliminary-round\poster\.pptx-build\r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5405476"/>
            <a:ext cx="228600" cy="228600"/>
          </a:xfrm>
          <a:prstGeom prst="rect">
            <a:avLst/>
          </a:prstGeom>
        </p:spPr>
      </p:pic>
      <p:sp>
        <p:nvSpPr>
          <p:cNvPr id="75" name="text 73 h3"/>
          <p:cNvSpPr txBox="1"/>
          <p:nvPr/>
        </p:nvSpPr>
        <p:spPr>
          <a:xfrm>
            <a:off x="6724680" y="5353080"/>
            <a:ext cx="896569" cy="37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spc="-32" kern="0" dirty="0">
                <a:solidFill>
                  <a:srgbClr val="0A2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Predict</a:t>
            </a:r>
            <a:endParaRPr lang="en-US" sz="2100" dirty="0"/>
          </a:p>
        </p:txBody>
      </p:sp>
      <p:sp>
        <p:nvSpPr>
          <p:cNvPr id="76" name="text 74 p"/>
          <p:cNvSpPr txBox="1"/>
          <p:nvPr/>
        </p:nvSpPr>
        <p:spPr>
          <a:xfrm>
            <a:off x="6191220" y="5786415"/>
            <a:ext cx="170270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stage in </a:t>
            </a:r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+30, +60, +120 min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77" name="box 75 pillar"/>
          <p:cNvSpPr/>
          <p:nvPr/>
        </p:nvSpPr>
        <p:spPr>
          <a:xfrm>
            <a:off x="8143921" y="5167274"/>
            <a:ext cx="2000250" cy="1714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78" name="box 76 ic"/>
          <p:cNvSpPr/>
          <p:nvPr/>
        </p:nvSpPr>
        <p:spPr>
          <a:xfrm>
            <a:off x="8305770" y="5310195"/>
            <a:ext cx="419070" cy="419070"/>
          </a:xfrm>
          <a:prstGeom prst="roundRect">
            <a:avLst>
              <a:gd name="adj" fmla="val 31813"/>
            </a:avLst>
          </a:prstGeom>
          <a:solidFill>
            <a:srgbClr val="1E709E"/>
          </a:solidFill>
          <a:ln/>
        </p:spPr>
      </p:sp>
      <p:pic>
        <p:nvPicPr>
          <p:cNvPr id="79" name="icon 77 icon" descr="C:\Users\Luqman Nurhakim\Desktop\Projects\Hackathon-2026\Huawei\docs\product\preliminary-round\poster\.pptx-build\r5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1050" y="5405476"/>
            <a:ext cx="228600" cy="228600"/>
          </a:xfrm>
          <a:prstGeom prst="rect">
            <a:avLst/>
          </a:prstGeom>
        </p:spPr>
      </p:pic>
      <p:sp>
        <p:nvSpPr>
          <p:cNvPr id="80" name="text 78 h3"/>
          <p:cNvSpPr txBox="1"/>
          <p:nvPr/>
        </p:nvSpPr>
        <p:spPr>
          <a:xfrm>
            <a:off x="8839230" y="5353080"/>
            <a:ext cx="761512" cy="37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spc="-32" kern="0" dirty="0">
                <a:solidFill>
                  <a:srgbClr val="0A2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Verify</a:t>
            </a:r>
            <a:endParaRPr lang="en-US" sz="2100" dirty="0"/>
          </a:p>
        </p:txBody>
      </p:sp>
      <p:sp>
        <p:nvSpPr>
          <p:cNvPr id="81" name="text 79 p"/>
          <p:cNvSpPr txBox="1"/>
          <p:nvPr/>
        </p:nvSpPr>
        <p:spPr>
          <a:xfrm>
            <a:off x="8305770" y="5786415"/>
            <a:ext cx="170270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photos pass </a:t>
            </a:r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YOLOv8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a human.</a:t>
            </a:r>
            <a:endParaRPr lang="en-US" sz="1500" dirty="0"/>
          </a:p>
        </p:txBody>
      </p:sp>
      <p:sp>
        <p:nvSpPr>
          <p:cNvPr id="82" name="box 80 pillar"/>
          <p:cNvSpPr/>
          <p:nvPr/>
        </p:nvSpPr>
        <p:spPr>
          <a:xfrm>
            <a:off x="10258471" y="5167274"/>
            <a:ext cx="2000250" cy="1714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83" name="box 81 ic"/>
          <p:cNvSpPr/>
          <p:nvPr/>
        </p:nvSpPr>
        <p:spPr>
          <a:xfrm>
            <a:off x="10420320" y="5310195"/>
            <a:ext cx="419070" cy="419070"/>
          </a:xfrm>
          <a:prstGeom prst="roundRect">
            <a:avLst>
              <a:gd name="adj" fmla="val 31813"/>
            </a:avLst>
          </a:prstGeom>
          <a:solidFill>
            <a:srgbClr val="1E709E"/>
          </a:solidFill>
          <a:ln/>
        </p:spPr>
      </p:sp>
      <p:pic>
        <p:nvPicPr>
          <p:cNvPr id="84" name="icon 82 icon" descr="C:\Users\Luqman Nurhakim\Desktop\Projects\Hackathon-2026\Huawei\docs\product\preliminary-round\poster\.pptx-build\r6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15600" y="5405476"/>
            <a:ext cx="228600" cy="228600"/>
          </a:xfrm>
          <a:prstGeom prst="rect">
            <a:avLst/>
          </a:prstGeom>
        </p:spPr>
      </p:pic>
      <p:sp>
        <p:nvSpPr>
          <p:cNvPr id="85" name="text 83 h3"/>
          <p:cNvSpPr txBox="1"/>
          <p:nvPr/>
        </p:nvSpPr>
        <p:spPr>
          <a:xfrm>
            <a:off x="10953780" y="5353080"/>
            <a:ext cx="736275" cy="37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spc="-32" kern="0" dirty="0">
                <a:solidFill>
                  <a:srgbClr val="0A2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</a:t>
            </a:r>
            <a:endParaRPr lang="en-US" sz="2100" dirty="0"/>
          </a:p>
        </p:txBody>
      </p:sp>
      <p:sp>
        <p:nvSpPr>
          <p:cNvPr id="86" name="text 84 p"/>
          <p:cNvSpPr txBox="1"/>
          <p:nvPr/>
        </p:nvSpPr>
        <p:spPr>
          <a:xfrm>
            <a:off x="10420320" y="5786415"/>
            <a:ext cx="1702704" cy="98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weighted by water depth vs </a:t>
            </a:r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0.10 to 0.70 m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clearance.</a:t>
            </a:r>
            <a:endParaRPr lang="en-US" sz="1500" dirty="0"/>
          </a:p>
        </p:txBody>
      </p:sp>
      <p:sp>
        <p:nvSpPr>
          <p:cNvPr id="87" name="box 85 hw"/>
          <p:cNvSpPr/>
          <p:nvPr/>
        </p:nvSpPr>
        <p:spPr>
          <a:xfrm>
            <a:off x="6029371" y="6977055"/>
            <a:ext cx="6229350" cy="2157435"/>
          </a:xfrm>
          <a:prstGeom prst="roundRect">
            <a:avLst>
              <a:gd name="adj" fmla="val 7947"/>
            </a:avLst>
          </a:prstGeom>
          <a:solidFill>
            <a:srgbClr val="FFF6F7"/>
          </a:solidFill>
          <a:ln w="9525">
            <a:solidFill>
              <a:srgbClr val="F6C9CE"/>
            </a:solidFill>
            <a:prstDash val="solid"/>
          </a:ln>
        </p:spPr>
      </p:sp>
      <p:sp>
        <p:nvSpPr>
          <p:cNvPr id="88" name="box 86 Huawei tile"/>
          <p:cNvSpPr/>
          <p:nvPr/>
        </p:nvSpPr>
        <p:spPr>
          <a:xfrm>
            <a:off x="6191220" y="7158472"/>
            <a:ext cx="579090" cy="552480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</p:sp>
      <p:pic>
        <p:nvPicPr>
          <p:cNvPr id="89" name="img 87 Huawei" descr="C:/Users/Luqman Nurhakim/Desktop/Projects/Hackathon-2026/Huawei/docs/product/preliminary-round/poster/assets/huawei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20" y="7158472"/>
            <a:ext cx="579090" cy="552480"/>
          </a:xfrm>
          <a:prstGeom prst="rect">
            <a:avLst/>
          </a:prstGeom>
        </p:spPr>
      </p:pic>
      <p:sp>
        <p:nvSpPr>
          <p:cNvPr id="90" name="text 88 kicker"/>
          <p:cNvSpPr txBox="1"/>
          <p:nvPr/>
        </p:nvSpPr>
        <p:spPr>
          <a:xfrm>
            <a:off x="6903720" y="7144207"/>
            <a:ext cx="387641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95" kern="0" dirty="0">
                <a:solidFill>
                  <a:srgbClr val="CF0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HUAWEI TECHNOLOGY</a:t>
            </a:r>
            <a:endParaRPr lang="en-US" sz="1500" dirty="0"/>
          </a:p>
        </p:txBody>
      </p:sp>
      <p:sp>
        <p:nvSpPr>
          <p:cNvPr id="91" name="text 89 b"/>
          <p:cNvSpPr txBox="1"/>
          <p:nvPr/>
        </p:nvSpPr>
        <p:spPr>
          <a:xfrm>
            <a:off x="6903720" y="7391827"/>
            <a:ext cx="3876416" cy="37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A253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Huawei Cloud architecture</a:t>
            </a:r>
            <a:endParaRPr lang="en-US" sz="2100" dirty="0"/>
          </a:p>
        </p:txBody>
      </p:sp>
      <p:sp>
        <p:nvSpPr>
          <p:cNvPr id="92" name="box 90 div"/>
          <p:cNvSpPr/>
          <p:nvPr/>
        </p:nvSpPr>
        <p:spPr>
          <a:xfrm>
            <a:off x="6191220" y="7820497"/>
            <a:ext cx="1423355" cy="1146749"/>
          </a:xfrm>
          <a:prstGeom prst="roundRect">
            <a:avLst>
              <a:gd name="adj" fmla="val 11626"/>
            </a:avLst>
          </a:prstGeom>
          <a:solidFill>
            <a:srgbClr val="FFFFFF"/>
          </a:solidFill>
          <a:ln w="9525">
            <a:solidFill>
              <a:srgbClr val="F6C9CE"/>
            </a:solidFill>
            <a:prstDash val="solid"/>
          </a:ln>
        </p:spPr>
      </p:sp>
      <p:sp>
        <p:nvSpPr>
          <p:cNvPr id="93" name="text 91 b"/>
          <p:cNvSpPr txBox="1"/>
          <p:nvPr/>
        </p:nvSpPr>
        <p:spPr>
          <a:xfrm>
            <a:off x="6315121" y="7906177"/>
            <a:ext cx="119704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A3082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ModelArts</a:t>
            </a:r>
            <a:endParaRPr lang="en-US" sz="1875" dirty="0"/>
          </a:p>
        </p:txBody>
      </p:sp>
      <p:sp>
        <p:nvSpPr>
          <p:cNvPr id="94" name="text 92 span"/>
          <p:cNvSpPr txBox="1"/>
          <p:nvPr/>
        </p:nvSpPr>
        <p:spPr>
          <a:xfrm>
            <a:off x="6315121" y="8220547"/>
            <a:ext cx="1197041" cy="69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4A2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Trains and serves the forecast</a:t>
            </a:r>
            <a:endParaRPr lang="en-US" sz="1425" dirty="0"/>
          </a:p>
        </p:txBody>
      </p:sp>
      <p:sp>
        <p:nvSpPr>
          <p:cNvPr id="95" name="box 93 div"/>
          <p:cNvSpPr/>
          <p:nvPr/>
        </p:nvSpPr>
        <p:spPr>
          <a:xfrm>
            <a:off x="7709855" y="7820497"/>
            <a:ext cx="1398666" cy="1146749"/>
          </a:xfrm>
          <a:prstGeom prst="roundRect">
            <a:avLst>
              <a:gd name="adj" fmla="val 11626"/>
            </a:avLst>
          </a:prstGeom>
          <a:solidFill>
            <a:srgbClr val="FFFFFF"/>
          </a:solidFill>
          <a:ln w="9525">
            <a:solidFill>
              <a:srgbClr val="F6C9CE"/>
            </a:solidFill>
            <a:prstDash val="solid"/>
          </a:ln>
        </p:spPr>
      </p:sp>
      <p:sp>
        <p:nvSpPr>
          <p:cNvPr id="96" name="text 94 b"/>
          <p:cNvSpPr txBox="1"/>
          <p:nvPr/>
        </p:nvSpPr>
        <p:spPr>
          <a:xfrm>
            <a:off x="7833756" y="7906177"/>
            <a:ext cx="11720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A3082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OBS</a:t>
            </a:r>
            <a:endParaRPr lang="en-US" sz="1875" dirty="0"/>
          </a:p>
        </p:txBody>
      </p:sp>
      <p:sp>
        <p:nvSpPr>
          <p:cNvPr id="97" name="text 95 span"/>
          <p:cNvSpPr txBox="1"/>
          <p:nvPr/>
        </p:nvSpPr>
        <p:spPr>
          <a:xfrm>
            <a:off x="7833756" y="8220547"/>
            <a:ext cx="1172078" cy="69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4A2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media and app hosting</a:t>
            </a:r>
            <a:endParaRPr lang="en-US" sz="1425" dirty="0"/>
          </a:p>
        </p:txBody>
      </p:sp>
      <p:sp>
        <p:nvSpPr>
          <p:cNvPr id="98" name="box 96 div"/>
          <p:cNvSpPr/>
          <p:nvPr/>
        </p:nvSpPr>
        <p:spPr>
          <a:xfrm>
            <a:off x="9203802" y="7820497"/>
            <a:ext cx="1398849" cy="1146749"/>
          </a:xfrm>
          <a:prstGeom prst="roundRect">
            <a:avLst>
              <a:gd name="adj" fmla="val 11626"/>
            </a:avLst>
          </a:prstGeom>
          <a:solidFill>
            <a:srgbClr val="FFFFFF"/>
          </a:solidFill>
          <a:ln w="9525">
            <a:solidFill>
              <a:srgbClr val="F6C9CE"/>
            </a:solidFill>
            <a:prstDash val="solid"/>
          </a:ln>
        </p:spPr>
      </p:sp>
      <p:sp>
        <p:nvSpPr>
          <p:cNvPr id="99" name="text 97 b"/>
          <p:cNvSpPr txBox="1"/>
          <p:nvPr/>
        </p:nvSpPr>
        <p:spPr>
          <a:xfrm>
            <a:off x="9327612" y="7906177"/>
            <a:ext cx="11722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A3082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ECS</a:t>
            </a:r>
            <a:endParaRPr lang="en-US" sz="1875" dirty="0"/>
          </a:p>
        </p:txBody>
      </p:sp>
      <p:sp>
        <p:nvSpPr>
          <p:cNvPr id="100" name="text 98 span"/>
          <p:cNvSpPr txBox="1"/>
          <p:nvPr/>
        </p:nvSpPr>
        <p:spPr>
          <a:xfrm>
            <a:off x="9327612" y="8220547"/>
            <a:ext cx="1172261" cy="69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4A2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Live Vision and routing</a:t>
            </a:r>
            <a:endParaRPr lang="en-US" sz="1425" dirty="0"/>
          </a:p>
        </p:txBody>
      </p:sp>
      <p:sp>
        <p:nvSpPr>
          <p:cNvPr id="101" name="box 99 div"/>
          <p:cNvSpPr/>
          <p:nvPr/>
        </p:nvSpPr>
        <p:spPr>
          <a:xfrm>
            <a:off x="10697931" y="7820497"/>
            <a:ext cx="1398849" cy="1146749"/>
          </a:xfrm>
          <a:prstGeom prst="roundRect">
            <a:avLst>
              <a:gd name="adj" fmla="val 11626"/>
            </a:avLst>
          </a:prstGeom>
          <a:solidFill>
            <a:srgbClr val="FFFFFF"/>
          </a:solidFill>
          <a:ln w="9525">
            <a:solidFill>
              <a:srgbClr val="F6C9CE"/>
            </a:solidFill>
            <a:prstDash val="solid"/>
          </a:ln>
        </p:spPr>
      </p:sp>
      <p:sp>
        <p:nvSpPr>
          <p:cNvPr id="102" name="text 100 b"/>
          <p:cNvSpPr txBox="1"/>
          <p:nvPr/>
        </p:nvSpPr>
        <p:spPr>
          <a:xfrm>
            <a:off x="10821741" y="7906177"/>
            <a:ext cx="11722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A3082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SMN</a:t>
            </a:r>
            <a:endParaRPr lang="en-US" sz="1875" dirty="0"/>
          </a:p>
        </p:txBody>
      </p:sp>
      <p:sp>
        <p:nvSpPr>
          <p:cNvPr id="103" name="text 101 span"/>
          <p:cNvSpPr txBox="1"/>
          <p:nvPr/>
        </p:nvSpPr>
        <p:spPr>
          <a:xfrm>
            <a:off x="10821741" y="8220547"/>
            <a:ext cx="1172261" cy="69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4A2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and email SOS alerts</a:t>
            </a:r>
            <a:endParaRPr lang="en-US" sz="1425" dirty="0"/>
          </a:p>
        </p:txBody>
      </p:sp>
      <p:sp>
        <p:nvSpPr>
          <p:cNvPr id="104" name="box 102 card"/>
          <p:cNvSpPr/>
          <p:nvPr/>
        </p:nvSpPr>
        <p:spPr>
          <a:xfrm>
            <a:off x="12649170" y="1352580"/>
            <a:ext cx="5333970" cy="2825039"/>
          </a:xfrm>
          <a:prstGeom prst="roundRect">
            <a:avLst>
              <a:gd name="adj" fmla="val 8092"/>
            </a:avLst>
          </a:prstGeom>
          <a:solidFill>
            <a:srgbClr val="0B6F47"/>
          </a:solidFill>
          <a:ln/>
        </p:spPr>
      </p:sp>
      <p:sp>
        <p:nvSpPr>
          <p:cNvPr id="105" name="text 103 kicker"/>
          <p:cNvSpPr txBox="1"/>
          <p:nvPr/>
        </p:nvSpPr>
        <p:spPr>
          <a:xfrm>
            <a:off x="12858750" y="1504920"/>
            <a:ext cx="497360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95" kern="0" dirty="0">
                <a:solidFill>
                  <a:srgbClr val="A5EB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PROOF, NOT PROMISES</a:t>
            </a:r>
            <a:endParaRPr lang="en-US" sz="1500" dirty="0"/>
          </a:p>
        </p:txBody>
      </p:sp>
      <p:sp>
        <p:nvSpPr>
          <p:cNvPr id="106" name="box 104 hs"/>
          <p:cNvSpPr/>
          <p:nvPr/>
        </p:nvSpPr>
        <p:spPr>
          <a:xfrm>
            <a:off x="12858750" y="1809780"/>
            <a:ext cx="4914900" cy="885871"/>
          </a:xfrm>
          <a:prstGeom prst="roundRect">
            <a:avLst>
              <a:gd name="adj" fmla="val 2150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7" name="text 105 b"/>
          <p:cNvSpPr txBox="1"/>
          <p:nvPr/>
        </p:nvSpPr>
        <p:spPr>
          <a:xfrm>
            <a:off x="13020690" y="1834469"/>
            <a:ext cx="1266353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100" b="1" spc="-204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</a:t>
            </a:r>
            <a:pPr algn="l" indent="0" marL="0">
              <a:buNone/>
            </a:pPr>
            <a:r>
              <a:rPr lang="en-US" sz="2550" b="1" spc="-204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%</a:t>
            </a:r>
            <a:endParaRPr lang="en-US" sz="5100" dirty="0"/>
          </a:p>
        </p:txBody>
      </p:sp>
      <p:sp>
        <p:nvSpPr>
          <p:cNvPr id="108" name="text 106 span"/>
          <p:cNvSpPr txBox="1"/>
          <p:nvPr/>
        </p:nvSpPr>
        <p:spPr>
          <a:xfrm>
            <a:off x="14398417" y="1895460"/>
            <a:ext cx="325499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flood hazard avoidance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6F5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100 simulated scenarios vs </a:t>
            </a:r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6F5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commercial GPS.</a:t>
            </a:r>
            <a:endParaRPr lang="en-US" sz="1500" dirty="0"/>
          </a:p>
        </p:txBody>
      </p:sp>
      <p:sp>
        <p:nvSpPr>
          <p:cNvPr id="109" name="box 107 stat"/>
          <p:cNvSpPr/>
          <p:nvPr/>
        </p:nvSpPr>
        <p:spPr>
          <a:xfrm>
            <a:off x="12858750" y="2790840"/>
            <a:ext cx="2409810" cy="447690"/>
          </a:xfrm>
          <a:prstGeom prst="roundRect">
            <a:avLst>
              <a:gd name="adj" fmla="val 34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0" name="text 108 b"/>
          <p:cNvSpPr txBox="1"/>
          <p:nvPr/>
        </p:nvSpPr>
        <p:spPr>
          <a:xfrm>
            <a:off x="12982560" y="2819370"/>
            <a:ext cx="95070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95.34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%</a:t>
            </a:r>
            <a:endParaRPr lang="en-US" sz="2400" dirty="0"/>
          </a:p>
        </p:txBody>
      </p:sp>
      <p:sp>
        <p:nvSpPr>
          <p:cNvPr id="111" name="text 109 span"/>
          <p:cNvSpPr txBox="1"/>
          <p:nvPr/>
        </p:nvSpPr>
        <p:spPr>
          <a:xfrm>
            <a:off x="14009614" y="2943271"/>
            <a:ext cx="870875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 acc.</a:t>
            </a:r>
            <a:endParaRPr lang="en-US" sz="1500" dirty="0"/>
          </a:p>
        </p:txBody>
      </p:sp>
      <p:sp>
        <p:nvSpPr>
          <p:cNvPr id="112" name="box 110 stat"/>
          <p:cNvSpPr/>
          <p:nvPr/>
        </p:nvSpPr>
        <p:spPr>
          <a:xfrm>
            <a:off x="15363840" y="2790840"/>
            <a:ext cx="2409810" cy="447690"/>
          </a:xfrm>
          <a:prstGeom prst="roundRect">
            <a:avLst>
              <a:gd name="adj" fmla="val 34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3" name="text 111 b"/>
          <p:cNvSpPr txBox="1"/>
          <p:nvPr/>
        </p:nvSpPr>
        <p:spPr>
          <a:xfrm>
            <a:off x="15487650" y="2819370"/>
            <a:ext cx="930219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86.96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%</a:t>
            </a:r>
            <a:endParaRPr lang="en-US" sz="2400" dirty="0"/>
          </a:p>
        </p:txBody>
      </p:sp>
      <p:sp>
        <p:nvSpPr>
          <p:cNvPr id="114" name="text 112 span"/>
          <p:cNvSpPr txBox="1"/>
          <p:nvPr/>
        </p:nvSpPr>
        <p:spPr>
          <a:xfrm>
            <a:off x="16494496" y="2943271"/>
            <a:ext cx="84033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flood IoU</a:t>
            </a:r>
            <a:endParaRPr lang="en-US" sz="1500" dirty="0"/>
          </a:p>
        </p:txBody>
      </p:sp>
      <p:sp>
        <p:nvSpPr>
          <p:cNvPr id="115" name="box 113 stat"/>
          <p:cNvSpPr/>
          <p:nvPr/>
        </p:nvSpPr>
        <p:spPr>
          <a:xfrm>
            <a:off x="12858750" y="3333720"/>
            <a:ext cx="2409810" cy="447690"/>
          </a:xfrm>
          <a:prstGeom prst="roundRect">
            <a:avLst>
              <a:gd name="adj" fmla="val 34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6" name="text 114 b"/>
          <p:cNvSpPr txBox="1"/>
          <p:nvPr/>
        </p:nvSpPr>
        <p:spPr>
          <a:xfrm>
            <a:off x="12982560" y="3362340"/>
            <a:ext cx="984626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&lt;120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ms</a:t>
            </a:r>
            <a:endParaRPr lang="en-US" sz="2400" dirty="0"/>
          </a:p>
        </p:txBody>
      </p:sp>
      <p:sp>
        <p:nvSpPr>
          <p:cNvPr id="117" name="text 115 span"/>
          <p:cNvSpPr txBox="1"/>
          <p:nvPr/>
        </p:nvSpPr>
        <p:spPr>
          <a:xfrm>
            <a:off x="14043264" y="3486150"/>
            <a:ext cx="649133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</a:t>
            </a:r>
            <a:endParaRPr lang="en-US" sz="1500" dirty="0"/>
          </a:p>
        </p:txBody>
      </p:sp>
      <p:sp>
        <p:nvSpPr>
          <p:cNvPr id="118" name="box 116 stat"/>
          <p:cNvSpPr/>
          <p:nvPr/>
        </p:nvSpPr>
        <p:spPr>
          <a:xfrm>
            <a:off x="15363840" y="3333720"/>
            <a:ext cx="2409810" cy="447690"/>
          </a:xfrm>
          <a:prstGeom prst="roundRect">
            <a:avLst>
              <a:gd name="adj" fmla="val 34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9" name="text 117 b"/>
          <p:cNvSpPr txBox="1"/>
          <p:nvPr/>
        </p:nvSpPr>
        <p:spPr>
          <a:xfrm>
            <a:off x="15487650" y="3362340"/>
            <a:ext cx="1007943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+4.2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min</a:t>
            </a:r>
            <a:endParaRPr lang="en-US" sz="2400" dirty="0"/>
          </a:p>
        </p:txBody>
      </p:sp>
      <p:sp>
        <p:nvSpPr>
          <p:cNvPr id="120" name="text 118 span"/>
          <p:cNvSpPr txBox="1"/>
          <p:nvPr/>
        </p:nvSpPr>
        <p:spPr>
          <a:xfrm>
            <a:off x="16571397" y="3486150"/>
            <a:ext cx="60222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detour</a:t>
            </a:r>
            <a:endParaRPr lang="en-US" sz="1500" dirty="0"/>
          </a:p>
        </p:txBody>
      </p:sp>
      <p:sp>
        <p:nvSpPr>
          <p:cNvPr id="121" name="text 119 small"/>
          <p:cNvSpPr txBox="1"/>
          <p:nvPr/>
        </p:nvSpPr>
        <p:spPr>
          <a:xfrm>
            <a:off x="12858750" y="3819540"/>
            <a:ext cx="4973604" cy="23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A9D9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and IoU: Sen1Floods11 validation split.</a:t>
            </a:r>
            <a:endParaRPr lang="en-US" sz="1350" dirty="0"/>
          </a:p>
        </p:txBody>
      </p:sp>
      <p:sp>
        <p:nvSpPr>
          <p:cNvPr id="122" name="box 120 card"/>
          <p:cNvSpPr/>
          <p:nvPr/>
        </p:nvSpPr>
        <p:spPr>
          <a:xfrm>
            <a:off x="12649170" y="4310939"/>
            <a:ext cx="5333970" cy="2876520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23" name="text 121 kicker"/>
          <p:cNvSpPr txBox="1"/>
          <p:nvPr/>
        </p:nvSpPr>
        <p:spPr>
          <a:xfrm>
            <a:off x="13154010" y="4472879"/>
            <a:ext cx="466572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95" kern="0" dirty="0">
                <a:solidFill>
                  <a:srgbClr val="1E70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WIN</a:t>
            </a:r>
            <a:endParaRPr lang="en-US" sz="1500" dirty="0"/>
          </a:p>
        </p:txBody>
      </p:sp>
      <p:pic>
        <p:nvPicPr>
          <p:cNvPr id="124" name="icon 122 icon" descr="C:\Users\Luqman Nurhakim\Desktop\Projects\Hackathon-2026\Huawei\docs\product\preliminary-round\poster\.pptx-build\r7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68260" y="4491899"/>
            <a:ext cx="190470" cy="190470"/>
          </a:xfrm>
          <a:prstGeom prst="rect">
            <a:avLst/>
          </a:prstGeom>
        </p:spPr>
      </p:pic>
      <p:sp>
        <p:nvSpPr>
          <p:cNvPr id="125" name="box 123 matrix"/>
          <p:cNvSpPr/>
          <p:nvPr/>
        </p:nvSpPr>
        <p:spPr>
          <a:xfrm>
            <a:off x="12868260" y="4777649"/>
            <a:ext cx="4895880" cy="1781160"/>
          </a:xfrm>
          <a:prstGeom prst="roundRect">
            <a:avLst>
              <a:gd name="adj" fmla="val 8558"/>
            </a:avLst>
          </a:prstGeom>
          <a:ln w="9525">
            <a:solidFill>
              <a:srgbClr val="D8E5E9"/>
            </a:solidFill>
            <a:prstDash val="solid"/>
          </a:ln>
        </p:spPr>
      </p:sp>
      <p:sp>
        <p:nvSpPr>
          <p:cNvPr id="126" name="box 124 div"/>
          <p:cNvSpPr/>
          <p:nvPr/>
        </p:nvSpPr>
        <p:spPr>
          <a:xfrm>
            <a:off x="12877770" y="4787250"/>
            <a:ext cx="1702887" cy="285750"/>
          </a:xfrm>
          <a:prstGeom prst="rect">
            <a:avLst/>
          </a:prstGeom>
          <a:solidFill>
            <a:srgbClr val="F1F6F7"/>
          </a:solidFill>
          <a:ln/>
        </p:spPr>
      </p:sp>
      <p:sp>
        <p:nvSpPr>
          <p:cNvPr id="127" name="text 125 div"/>
          <p:cNvSpPr txBox="1"/>
          <p:nvPr/>
        </p:nvSpPr>
        <p:spPr>
          <a:xfrm>
            <a:off x="12992070" y="4815779"/>
            <a:ext cx="149851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75" kern="0" dirty="0">
                <a:solidFill>
                  <a:srgbClr val="4A6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</a:t>
            </a:r>
            <a:endParaRPr lang="en-US" sz="1500" dirty="0"/>
          </a:p>
        </p:txBody>
      </p:sp>
      <p:sp>
        <p:nvSpPr>
          <p:cNvPr id="128" name="box 126 div"/>
          <p:cNvSpPr/>
          <p:nvPr/>
        </p:nvSpPr>
        <p:spPr>
          <a:xfrm>
            <a:off x="14580657" y="4787250"/>
            <a:ext cx="1548262" cy="285750"/>
          </a:xfrm>
          <a:prstGeom prst="rect">
            <a:avLst/>
          </a:prstGeom>
          <a:solidFill>
            <a:srgbClr val="F8E3E4"/>
          </a:solidFill>
          <a:ln/>
        </p:spPr>
      </p:sp>
      <p:sp>
        <p:nvSpPr>
          <p:cNvPr id="129" name="text 127 div"/>
          <p:cNvSpPr txBox="1"/>
          <p:nvPr/>
        </p:nvSpPr>
        <p:spPr>
          <a:xfrm>
            <a:off x="14694957" y="4815779"/>
            <a:ext cx="134233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75" kern="0" dirty="0">
                <a:solidFill>
                  <a:srgbClr val="A82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500" dirty="0"/>
          </a:p>
        </p:txBody>
      </p:sp>
      <p:sp>
        <p:nvSpPr>
          <p:cNvPr id="130" name="box 128 div"/>
          <p:cNvSpPr/>
          <p:nvPr/>
        </p:nvSpPr>
        <p:spPr>
          <a:xfrm>
            <a:off x="16128919" y="4787250"/>
            <a:ext cx="1625620" cy="285750"/>
          </a:xfrm>
          <a:prstGeom prst="rect">
            <a:avLst/>
          </a:prstGeom>
          <a:solidFill>
            <a:srgbClr val="129B63"/>
          </a:solidFill>
          <a:ln/>
        </p:spPr>
      </p:sp>
      <p:sp>
        <p:nvSpPr>
          <p:cNvPr id="131" name="text 129 div"/>
          <p:cNvSpPr txBox="1"/>
          <p:nvPr/>
        </p:nvSpPr>
        <p:spPr>
          <a:xfrm>
            <a:off x="16243219" y="4815779"/>
            <a:ext cx="1420520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FLOODWAY</a:t>
            </a:r>
            <a:endParaRPr lang="en-US" sz="1500" dirty="0"/>
          </a:p>
        </p:txBody>
      </p:sp>
      <p:sp>
        <p:nvSpPr>
          <p:cNvPr id="132" name="box 130 div"/>
          <p:cNvSpPr/>
          <p:nvPr/>
        </p:nvSpPr>
        <p:spPr>
          <a:xfrm>
            <a:off x="12877770" y="5073000"/>
            <a:ext cx="1702887" cy="295260"/>
          </a:xfrm>
          <a:prstGeom prst="rect">
            <a:avLst/>
          </a:prstGeom>
          <a:ln w="9525">
            <a:solidFill>
              <a:srgbClr val="D8E5E9"/>
            </a:solidFill>
            <a:prstDash val="solid"/>
          </a:ln>
        </p:spPr>
      </p:sp>
      <p:sp>
        <p:nvSpPr>
          <p:cNvPr id="133" name="text 131 div"/>
          <p:cNvSpPr txBox="1"/>
          <p:nvPr/>
        </p:nvSpPr>
        <p:spPr>
          <a:xfrm>
            <a:off x="12992070" y="5111039"/>
            <a:ext cx="149851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34" name="box 132 div"/>
          <p:cNvSpPr/>
          <p:nvPr/>
        </p:nvSpPr>
        <p:spPr>
          <a:xfrm>
            <a:off x="14580657" y="5073000"/>
            <a:ext cx="1548262" cy="295260"/>
          </a:xfrm>
          <a:prstGeom prst="rect">
            <a:avLst/>
          </a:prstGeom>
          <a:solidFill>
            <a:srgbClr val="FEF7F7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35" name="text 133 div"/>
          <p:cNvSpPr txBox="1"/>
          <p:nvPr/>
        </p:nvSpPr>
        <p:spPr>
          <a:xfrm>
            <a:off x="14694957" y="5111039"/>
            <a:ext cx="134233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A82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500" dirty="0"/>
          </a:p>
        </p:txBody>
      </p:sp>
      <p:sp>
        <p:nvSpPr>
          <p:cNvPr id="136" name="box 134 div"/>
          <p:cNvSpPr/>
          <p:nvPr/>
        </p:nvSpPr>
        <p:spPr>
          <a:xfrm>
            <a:off x="16128919" y="5073000"/>
            <a:ext cx="1625620" cy="295260"/>
          </a:xfrm>
          <a:prstGeom prst="rect">
            <a:avLst/>
          </a:prstGeom>
          <a:solidFill>
            <a:srgbClr val="EAF8F1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37" name="text 135 div"/>
          <p:cNvSpPr txBox="1"/>
          <p:nvPr/>
        </p:nvSpPr>
        <p:spPr>
          <a:xfrm>
            <a:off x="16243219" y="5111039"/>
            <a:ext cx="1420520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120-min</a:t>
            </a:r>
            <a:endParaRPr lang="en-US" sz="1500" dirty="0"/>
          </a:p>
        </p:txBody>
      </p:sp>
      <p:sp>
        <p:nvSpPr>
          <p:cNvPr id="138" name="box 136 div"/>
          <p:cNvSpPr/>
          <p:nvPr/>
        </p:nvSpPr>
        <p:spPr>
          <a:xfrm>
            <a:off x="12877770" y="5368260"/>
            <a:ext cx="1702887" cy="295260"/>
          </a:xfrm>
          <a:prstGeom prst="rect">
            <a:avLst/>
          </a:prstGeom>
          <a:ln w="9525">
            <a:solidFill>
              <a:srgbClr val="D8E5E9"/>
            </a:solidFill>
            <a:prstDash val="solid"/>
          </a:ln>
        </p:spPr>
      </p:sp>
      <p:sp>
        <p:nvSpPr>
          <p:cNvPr id="139" name="text 137 div"/>
          <p:cNvSpPr txBox="1"/>
          <p:nvPr/>
        </p:nvSpPr>
        <p:spPr>
          <a:xfrm>
            <a:off x="12992070" y="5406299"/>
            <a:ext cx="149851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</a:t>
            </a:r>
            <a:endParaRPr lang="en-US" sz="1500" dirty="0"/>
          </a:p>
        </p:txBody>
      </p:sp>
      <p:sp>
        <p:nvSpPr>
          <p:cNvPr id="140" name="box 138 div"/>
          <p:cNvSpPr/>
          <p:nvPr/>
        </p:nvSpPr>
        <p:spPr>
          <a:xfrm>
            <a:off x="14580657" y="5368260"/>
            <a:ext cx="1548262" cy="295260"/>
          </a:xfrm>
          <a:prstGeom prst="rect">
            <a:avLst/>
          </a:prstGeom>
          <a:solidFill>
            <a:srgbClr val="FEF7F7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41" name="text 139 div"/>
          <p:cNvSpPr txBox="1"/>
          <p:nvPr/>
        </p:nvSpPr>
        <p:spPr>
          <a:xfrm>
            <a:off x="14694957" y="5406299"/>
            <a:ext cx="134233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A82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Water-blind</a:t>
            </a:r>
            <a:endParaRPr lang="en-US" sz="1500" dirty="0"/>
          </a:p>
        </p:txBody>
      </p:sp>
      <p:sp>
        <p:nvSpPr>
          <p:cNvPr id="142" name="box 140 div"/>
          <p:cNvSpPr/>
          <p:nvPr/>
        </p:nvSpPr>
        <p:spPr>
          <a:xfrm>
            <a:off x="16128919" y="5368260"/>
            <a:ext cx="1625620" cy="295260"/>
          </a:xfrm>
          <a:prstGeom prst="rect">
            <a:avLst/>
          </a:prstGeom>
          <a:solidFill>
            <a:srgbClr val="EAF8F1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43" name="text 141 div"/>
          <p:cNvSpPr txBox="1"/>
          <p:nvPr/>
        </p:nvSpPr>
        <p:spPr>
          <a:xfrm>
            <a:off x="16243219" y="5406299"/>
            <a:ext cx="1420520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Depth-aware</a:t>
            </a:r>
            <a:endParaRPr lang="en-US" sz="1500" dirty="0"/>
          </a:p>
        </p:txBody>
      </p:sp>
      <p:sp>
        <p:nvSpPr>
          <p:cNvPr id="144" name="box 142 div"/>
          <p:cNvSpPr/>
          <p:nvPr/>
        </p:nvSpPr>
        <p:spPr>
          <a:xfrm>
            <a:off x="12877770" y="5663519"/>
            <a:ext cx="1702887" cy="295260"/>
          </a:xfrm>
          <a:prstGeom prst="rect">
            <a:avLst/>
          </a:prstGeom>
          <a:ln w="9525">
            <a:solidFill>
              <a:srgbClr val="D8E5E9"/>
            </a:solidFill>
            <a:prstDash val="solid"/>
          </a:ln>
        </p:spPr>
      </p:sp>
      <p:sp>
        <p:nvSpPr>
          <p:cNvPr id="145" name="text 143 div"/>
          <p:cNvSpPr txBox="1"/>
          <p:nvPr/>
        </p:nvSpPr>
        <p:spPr>
          <a:xfrm>
            <a:off x="12992070" y="5701650"/>
            <a:ext cx="149851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Sensing</a:t>
            </a:r>
            <a:endParaRPr lang="en-US" sz="1500" dirty="0"/>
          </a:p>
        </p:txBody>
      </p:sp>
      <p:sp>
        <p:nvSpPr>
          <p:cNvPr id="146" name="box 144 div"/>
          <p:cNvSpPr/>
          <p:nvPr/>
        </p:nvSpPr>
        <p:spPr>
          <a:xfrm>
            <a:off x="14580657" y="5663519"/>
            <a:ext cx="1548262" cy="295260"/>
          </a:xfrm>
          <a:prstGeom prst="rect">
            <a:avLst/>
          </a:prstGeom>
          <a:solidFill>
            <a:srgbClr val="FEF7F7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47" name="text 145 div"/>
          <p:cNvSpPr txBox="1"/>
          <p:nvPr/>
        </p:nvSpPr>
        <p:spPr>
          <a:xfrm>
            <a:off x="14694957" y="5701650"/>
            <a:ext cx="134233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A82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Rivers only</a:t>
            </a:r>
            <a:endParaRPr lang="en-US" sz="1500" dirty="0"/>
          </a:p>
        </p:txBody>
      </p:sp>
      <p:sp>
        <p:nvSpPr>
          <p:cNvPr id="148" name="box 146 div"/>
          <p:cNvSpPr/>
          <p:nvPr/>
        </p:nvSpPr>
        <p:spPr>
          <a:xfrm>
            <a:off x="16128919" y="5663519"/>
            <a:ext cx="1625620" cy="295260"/>
          </a:xfrm>
          <a:prstGeom prst="rect">
            <a:avLst/>
          </a:prstGeom>
          <a:solidFill>
            <a:srgbClr val="EAF8F1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49" name="text 147 div"/>
          <p:cNvSpPr txBox="1"/>
          <p:nvPr/>
        </p:nvSpPr>
        <p:spPr>
          <a:xfrm>
            <a:off x="16243219" y="5701650"/>
            <a:ext cx="1420520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AI</a:t>
            </a:r>
            <a:endParaRPr lang="en-US" sz="1500" dirty="0"/>
          </a:p>
        </p:txBody>
      </p:sp>
      <p:sp>
        <p:nvSpPr>
          <p:cNvPr id="150" name="box 148 div"/>
          <p:cNvSpPr/>
          <p:nvPr/>
        </p:nvSpPr>
        <p:spPr>
          <a:xfrm>
            <a:off x="12877770" y="5958779"/>
            <a:ext cx="1702887" cy="295260"/>
          </a:xfrm>
          <a:prstGeom prst="rect">
            <a:avLst/>
          </a:prstGeom>
          <a:ln w="9525">
            <a:solidFill>
              <a:srgbClr val="D8E5E9"/>
            </a:solidFill>
            <a:prstDash val="solid"/>
          </a:ln>
        </p:spPr>
      </p:sp>
      <p:sp>
        <p:nvSpPr>
          <p:cNvPr id="151" name="text 149 div"/>
          <p:cNvSpPr txBox="1"/>
          <p:nvPr/>
        </p:nvSpPr>
        <p:spPr>
          <a:xfrm>
            <a:off x="12992070" y="5996910"/>
            <a:ext cx="149851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Shelters</a:t>
            </a:r>
            <a:endParaRPr lang="en-US" sz="1500" dirty="0"/>
          </a:p>
        </p:txBody>
      </p:sp>
      <p:sp>
        <p:nvSpPr>
          <p:cNvPr id="152" name="box 150 div"/>
          <p:cNvSpPr/>
          <p:nvPr/>
        </p:nvSpPr>
        <p:spPr>
          <a:xfrm>
            <a:off x="14580657" y="5958779"/>
            <a:ext cx="1548262" cy="295260"/>
          </a:xfrm>
          <a:prstGeom prst="rect">
            <a:avLst/>
          </a:prstGeom>
          <a:solidFill>
            <a:srgbClr val="FEF7F7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53" name="text 151 div"/>
          <p:cNvSpPr txBox="1"/>
          <p:nvPr/>
        </p:nvSpPr>
        <p:spPr>
          <a:xfrm>
            <a:off x="14694957" y="5996910"/>
            <a:ext cx="134233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A82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list</a:t>
            </a:r>
            <a:endParaRPr lang="en-US" sz="1500" dirty="0"/>
          </a:p>
        </p:txBody>
      </p:sp>
      <p:sp>
        <p:nvSpPr>
          <p:cNvPr id="154" name="box 152 div"/>
          <p:cNvSpPr/>
          <p:nvPr/>
        </p:nvSpPr>
        <p:spPr>
          <a:xfrm>
            <a:off x="16128919" y="5958779"/>
            <a:ext cx="1625620" cy="295260"/>
          </a:xfrm>
          <a:prstGeom prst="rect">
            <a:avLst/>
          </a:prstGeom>
          <a:solidFill>
            <a:srgbClr val="EAF8F1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55" name="text 153 div"/>
          <p:cNvSpPr txBox="1"/>
          <p:nvPr/>
        </p:nvSpPr>
        <p:spPr>
          <a:xfrm>
            <a:off x="16243219" y="5996910"/>
            <a:ext cx="1420520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beds</a:t>
            </a:r>
            <a:endParaRPr lang="en-US" sz="1500" dirty="0"/>
          </a:p>
        </p:txBody>
      </p:sp>
      <p:sp>
        <p:nvSpPr>
          <p:cNvPr id="156" name="box 154 div"/>
          <p:cNvSpPr/>
          <p:nvPr/>
        </p:nvSpPr>
        <p:spPr>
          <a:xfrm>
            <a:off x="12877770" y="6254039"/>
            <a:ext cx="1702887" cy="295260"/>
          </a:xfrm>
          <a:prstGeom prst="rect">
            <a:avLst/>
          </a:prstGeom>
          <a:ln w="9525">
            <a:solidFill>
              <a:srgbClr val="D8E5E9"/>
            </a:solidFill>
            <a:prstDash val="solid"/>
          </a:ln>
        </p:spPr>
      </p:sp>
      <p:sp>
        <p:nvSpPr>
          <p:cNvPr id="157" name="text 155 div"/>
          <p:cNvSpPr txBox="1"/>
          <p:nvPr/>
        </p:nvSpPr>
        <p:spPr>
          <a:xfrm>
            <a:off x="12992070" y="6292169"/>
            <a:ext cx="149851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500" dirty="0"/>
          </a:p>
        </p:txBody>
      </p:sp>
      <p:sp>
        <p:nvSpPr>
          <p:cNvPr id="158" name="box 156 div"/>
          <p:cNvSpPr/>
          <p:nvPr/>
        </p:nvSpPr>
        <p:spPr>
          <a:xfrm>
            <a:off x="14580657" y="6254039"/>
            <a:ext cx="1548262" cy="295260"/>
          </a:xfrm>
          <a:prstGeom prst="rect">
            <a:avLst/>
          </a:prstGeom>
          <a:solidFill>
            <a:srgbClr val="FEF7F7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59" name="text 157 div"/>
          <p:cNvSpPr txBox="1"/>
          <p:nvPr/>
        </p:nvSpPr>
        <p:spPr>
          <a:xfrm>
            <a:off x="14694957" y="6292169"/>
            <a:ext cx="134233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A82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~RM150k/stn</a:t>
            </a:r>
            <a:endParaRPr lang="en-US" sz="1500" dirty="0"/>
          </a:p>
        </p:txBody>
      </p:sp>
      <p:sp>
        <p:nvSpPr>
          <p:cNvPr id="160" name="box 158 div"/>
          <p:cNvSpPr/>
          <p:nvPr/>
        </p:nvSpPr>
        <p:spPr>
          <a:xfrm>
            <a:off x="16128919" y="6254039"/>
            <a:ext cx="1625620" cy="295260"/>
          </a:xfrm>
          <a:prstGeom prst="rect">
            <a:avLst/>
          </a:prstGeom>
          <a:solidFill>
            <a:srgbClr val="EAF8F1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61" name="text 159 div"/>
          <p:cNvSpPr txBox="1"/>
          <p:nvPr/>
        </p:nvSpPr>
        <p:spPr>
          <a:xfrm>
            <a:off x="16243219" y="6292169"/>
            <a:ext cx="1420520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hardware</a:t>
            </a:r>
            <a:endParaRPr lang="en-US" sz="1500" dirty="0"/>
          </a:p>
        </p:txBody>
      </p:sp>
      <p:sp>
        <p:nvSpPr>
          <p:cNvPr id="162" name="box 160 connect"/>
          <p:cNvSpPr/>
          <p:nvPr/>
        </p:nvSpPr>
        <p:spPr>
          <a:xfrm>
            <a:off x="12868260" y="6635069"/>
            <a:ext cx="4895880" cy="390540"/>
          </a:xfrm>
          <a:prstGeom prst="roundRect">
            <a:avLst>
              <a:gd name="adj" fmla="val 34137"/>
            </a:avLst>
          </a:prstGeom>
          <a:solidFill>
            <a:srgbClr val="062A33"/>
          </a:solidFill>
          <a:ln/>
        </p:spPr>
      </p:sp>
      <p:sp>
        <p:nvSpPr>
          <p:cNvPr id="163" name="text 161 connect"/>
          <p:cNvSpPr txBox="1"/>
          <p:nvPr/>
        </p:nvSpPr>
        <p:spPr>
          <a:xfrm>
            <a:off x="13001671" y="6711239"/>
            <a:ext cx="4684928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E8C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connect JPS, JKM and JKR.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 replace.</a:t>
            </a:r>
            <a:endParaRPr lang="en-US" sz="1500" dirty="0"/>
          </a:p>
        </p:txBody>
      </p:sp>
      <p:sp>
        <p:nvSpPr>
          <p:cNvPr id="164" name="box 162 card"/>
          <p:cNvSpPr/>
          <p:nvPr/>
        </p:nvSpPr>
        <p:spPr>
          <a:xfrm>
            <a:off x="12649170" y="7320869"/>
            <a:ext cx="5333970" cy="1975561"/>
          </a:xfrm>
          <a:prstGeom prst="roundRect">
            <a:avLst>
              <a:gd name="adj" fmla="val 11571"/>
            </a:avLst>
          </a:prstGeom>
          <a:solidFill>
            <a:srgbClr val="FFFFFF"/>
          </a:solidFill>
          <a:ln w="9525">
            <a:solidFill>
              <a:srgbClr val="D8E5E9"/>
            </a:solidFill>
            <a:prstDash val="solid"/>
          </a:ln>
        </p:spPr>
      </p:sp>
      <p:sp>
        <p:nvSpPr>
          <p:cNvPr id="165" name="text 163 kicker"/>
          <p:cNvSpPr txBox="1"/>
          <p:nvPr/>
        </p:nvSpPr>
        <p:spPr>
          <a:xfrm>
            <a:off x="12868260" y="7482810"/>
            <a:ext cx="4954311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95" kern="0" dirty="0">
                <a:solidFill>
                  <a:srgbClr val="CF0A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ENDORSED AND RECOGNISED</a:t>
            </a:r>
            <a:endParaRPr lang="en-US" sz="1500" dirty="0"/>
          </a:p>
        </p:txBody>
      </p:sp>
      <p:sp>
        <p:nvSpPr>
          <p:cNvPr id="166" name="box 164 quote"/>
          <p:cNvSpPr/>
          <p:nvPr/>
        </p:nvSpPr>
        <p:spPr>
          <a:xfrm>
            <a:off x="12868260" y="7768560"/>
            <a:ext cx="4895880" cy="895380"/>
          </a:xfrm>
          <a:prstGeom prst="roundRect">
            <a:avLst>
              <a:gd name="adj" fmla="val 14890"/>
            </a:avLst>
          </a:prstGeom>
          <a:solidFill>
            <a:srgbClr val="E4F1F5"/>
          </a:solidFill>
          <a:ln/>
        </p:spPr>
      </p:sp>
      <p:sp>
        <p:nvSpPr>
          <p:cNvPr id="167" name="box 165 quote-edge"/>
          <p:cNvSpPr/>
          <p:nvPr/>
        </p:nvSpPr>
        <p:spPr>
          <a:xfrm>
            <a:off x="12868260" y="7768560"/>
            <a:ext cx="76170" cy="8953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8" name="text 166 p"/>
          <p:cNvSpPr txBox="1"/>
          <p:nvPr/>
        </p:nvSpPr>
        <p:spPr>
          <a:xfrm>
            <a:off x="13077840" y="7835219"/>
            <a:ext cx="460802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1B3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“Our biggest challenge is families evacuating too late. FloodWay will genuinely save lives.”</a:t>
            </a:r>
            <a:endParaRPr lang="en-US" sz="1500" dirty="0"/>
          </a:p>
        </p:txBody>
      </p:sp>
      <p:sp>
        <p:nvSpPr>
          <p:cNvPr id="169" name="text 167 who"/>
          <p:cNvSpPr txBox="1"/>
          <p:nvPr/>
        </p:nvSpPr>
        <p:spPr>
          <a:xfrm>
            <a:off x="13077840" y="8368589"/>
            <a:ext cx="460802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A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Rosli Bin Wahab</a:t>
            </a:r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A6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Senior Officer, JBPM</a:t>
            </a:r>
            <a:endParaRPr lang="en-US" sz="1500" dirty="0"/>
          </a:p>
        </p:txBody>
      </p:sp>
      <p:sp>
        <p:nvSpPr>
          <p:cNvPr id="170" name="box 168 gold"/>
          <p:cNvSpPr/>
          <p:nvPr/>
        </p:nvSpPr>
        <p:spPr>
          <a:xfrm>
            <a:off x="12868260" y="8740110"/>
            <a:ext cx="3441162" cy="276240"/>
          </a:xfrm>
          <a:prstGeom prst="roundRect">
            <a:avLst>
              <a:gd name="adj" fmla="val 49983"/>
            </a:avLst>
          </a:prstGeom>
          <a:solidFill>
            <a:srgbClr val="FFF3CF"/>
          </a:solidFill>
          <a:ln w="9525">
            <a:solidFill>
              <a:srgbClr val="EBD9B0"/>
            </a:solidFill>
            <a:prstDash val="solid"/>
          </a:ln>
        </p:spPr>
      </p:sp>
      <p:sp>
        <p:nvSpPr>
          <p:cNvPr id="171" name="text 169 gold"/>
          <p:cNvSpPr txBox="1"/>
          <p:nvPr/>
        </p:nvSpPr>
        <p:spPr>
          <a:xfrm>
            <a:off x="12973050" y="8778149"/>
            <a:ext cx="3273461" cy="23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7A5A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2× 1st Runner-Up: HackWKND, Plan-AI</a:t>
            </a:r>
            <a:endParaRPr lang="en-US" sz="1350" dirty="0"/>
          </a:p>
        </p:txBody>
      </p:sp>
      <p:sp>
        <p:nvSpPr>
          <p:cNvPr id="172" name="box 170 span"/>
          <p:cNvSpPr/>
          <p:nvPr/>
        </p:nvSpPr>
        <p:spPr>
          <a:xfrm>
            <a:off x="16366663" y="8740110"/>
            <a:ext cx="1316645" cy="276240"/>
          </a:xfrm>
          <a:prstGeom prst="roundRect">
            <a:avLst>
              <a:gd name="adj" fmla="val 49983"/>
            </a:avLst>
          </a:prstGeom>
          <a:solidFill>
            <a:srgbClr val="0A2530"/>
          </a:solidFill>
          <a:ln/>
        </p:spPr>
      </p:sp>
      <p:sp>
        <p:nvSpPr>
          <p:cNvPr id="173" name="text 171 span"/>
          <p:cNvSpPr txBox="1"/>
          <p:nvPr/>
        </p:nvSpPr>
        <p:spPr>
          <a:xfrm>
            <a:off x="16461852" y="8768639"/>
            <a:ext cx="1146932" cy="23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11 · 13 · 9</a:t>
            </a:r>
            <a:endParaRPr lang="en-US" sz="1350" dirty="0"/>
          </a:p>
        </p:txBody>
      </p:sp>
      <p:sp>
        <p:nvSpPr>
          <p:cNvPr id="174" name="box 172 footer"/>
          <p:cNvSpPr/>
          <p:nvPr/>
        </p:nvSpPr>
        <p:spPr>
          <a:xfrm>
            <a:off x="0" y="9410730"/>
            <a:ext cx="18288000" cy="876270"/>
          </a:xfrm>
          <a:prstGeom prst="rect">
            <a:avLst/>
          </a:prstGeom>
          <a:solidFill>
            <a:srgbClr val="062A33"/>
          </a:solidFill>
          <a:ln/>
        </p:spPr>
      </p:sp>
      <p:sp>
        <p:nvSpPr>
          <p:cNvPr id="175" name="text 173 teamline"/>
          <p:cNvSpPr txBox="1"/>
          <p:nvPr/>
        </p:nvSpPr>
        <p:spPr>
          <a:xfrm>
            <a:off x="323880" y="9601200"/>
            <a:ext cx="12756612" cy="52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RESQ4ACE</a:t>
            </a:r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8E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Universiti Teknologi MARA · Muhammad Luqman Nurhakim Rosli · Nadyie Azil Nazeri · Batrisyia Afrina Risamuddin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86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Instructor: Dr. Azliza Mohd Ali</a:t>
            </a:r>
            <a:endParaRPr lang="en-US" sz="1500" dirty="0"/>
          </a:p>
        </p:txBody>
      </p:sp>
      <p:sp>
        <p:nvSpPr>
          <p:cNvPr id="176" name="text 174 div"/>
          <p:cNvSpPr txBox="1"/>
          <p:nvPr/>
        </p:nvSpPr>
        <p:spPr>
          <a:xfrm>
            <a:off x="13230545" y="9627992"/>
            <a:ext cx="3886200" cy="478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FloodWay · Real data. Smarter decisions.</a:t>
            </a:r>
            <a:endParaRPr lang="en-US" sz="1350" dirty="0"/>
          </a:p>
          <a:p>
            <a:pPr algn="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6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the live demo: floodway-huawei.pages.dev</a:t>
            </a:r>
            <a:endParaRPr lang="en-US" sz="1350" dirty="0"/>
          </a:p>
        </p:txBody>
      </p:sp>
      <p:sp>
        <p:nvSpPr>
          <p:cNvPr id="177" name="box 175 QR code to the FloodWay demo tile"/>
          <p:cNvSpPr/>
          <p:nvPr/>
        </p:nvSpPr>
        <p:spPr>
          <a:xfrm>
            <a:off x="17240280" y="9486900"/>
            <a:ext cx="723930" cy="723930"/>
          </a:xfrm>
          <a:prstGeom prst="roundRect">
            <a:avLst>
              <a:gd name="adj" fmla="val 13162"/>
            </a:avLst>
          </a:prstGeom>
          <a:solidFill>
            <a:srgbClr val="FFFFFF"/>
          </a:solidFill>
          <a:ln/>
        </p:spPr>
      </p:sp>
      <p:pic>
        <p:nvPicPr>
          <p:cNvPr id="178" name="img 176 QR code to the FloodWay demo" descr="C:\Users\Luqman Nurhakim\Desktop\Projects\Hackathon-2026\Huawei\docs\product\preliminary-round\poster\.pptx-build\r8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78320" y="9525030"/>
            <a:ext cx="647670" cy="6476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FloodWay poster</dc:title>
  <dc:subject>PptxGenJS Presentation</dc:subject>
  <dc:creator>RESQ4ACE</dc:creator>
  <cp:lastModifiedBy>RESQ4ACE</cp:lastModifiedBy>
  <cp:revision>1</cp:revision>
  <dcterms:created xsi:type="dcterms:W3CDTF">2026-10-12T13:25:02Z</dcterms:created>
  <dcterms:modified xsi:type="dcterms:W3CDTF">2026-10-12T13:25:02Z</dcterms:modified>
</cp:coreProperties>
</file>